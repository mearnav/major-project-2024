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9"/>
  </p:notesMasterIdLst>
  <p:sldIdLst>
    <p:sldId id="256" r:id="rId2"/>
    <p:sldId id="281" r:id="rId3"/>
    <p:sldId id="259" r:id="rId4"/>
    <p:sldId id="307" r:id="rId5"/>
    <p:sldId id="257" r:id="rId6"/>
    <p:sldId id="308" r:id="rId7"/>
    <p:sldId id="294" r:id="rId8"/>
    <p:sldId id="272" r:id="rId9"/>
    <p:sldId id="273" r:id="rId10"/>
    <p:sldId id="296" r:id="rId11"/>
    <p:sldId id="292" r:id="rId12"/>
    <p:sldId id="276" r:id="rId13"/>
    <p:sldId id="309" r:id="rId14"/>
    <p:sldId id="277" r:id="rId15"/>
    <p:sldId id="293" r:id="rId16"/>
    <p:sldId id="279" r:id="rId17"/>
    <p:sldId id="282" r:id="rId18"/>
    <p:sldId id="310" r:id="rId19"/>
    <p:sldId id="280" r:id="rId20"/>
    <p:sldId id="278" r:id="rId21"/>
    <p:sldId id="311" r:id="rId22"/>
    <p:sldId id="260" r:id="rId23"/>
    <p:sldId id="312" r:id="rId24"/>
    <p:sldId id="313" r:id="rId25"/>
    <p:sldId id="302" r:id="rId26"/>
    <p:sldId id="314" r:id="rId27"/>
    <p:sldId id="315" r:id="rId2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8k4vfTcigBOvi1GPtpHoS9j9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43"/>
    <p:restoredTop sz="94662"/>
  </p:normalViewPr>
  <p:slideViewPr>
    <p:cSldViewPr snapToGrid="0">
      <p:cViewPr varScale="1">
        <p:scale>
          <a:sx n="78" d="100"/>
          <a:sy n="78" d="100"/>
        </p:scale>
        <p:origin x="1502"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36427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011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61DAA8A-D42A-BD9E-E14E-A95914899EC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AFD9EBB-F61E-01C2-8D90-684F341FA2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3C3DFDF-0A86-F1A4-A611-5886C42E866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3500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BBFFAB2-12D0-8283-E474-855552E7752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F2E8A97-3DDB-1FEE-0456-20FA0DF6C2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1CBC127-E688-A8E2-B2D1-1BDDFA9522C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9329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9579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4999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537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E1AC1480-7E5E-C169-F32F-6778E82402AC}"/>
            </a:ext>
          </a:extLst>
        </p:cNvPr>
        <p:cNvGrpSpPr/>
        <p:nvPr/>
      </p:nvGrpSpPr>
      <p:grpSpPr>
        <a:xfrm>
          <a:off x="0" y="0"/>
          <a:ext cx="0" cy="0"/>
          <a:chOff x="0" y="0"/>
          <a:chExt cx="0" cy="0"/>
        </a:xfrm>
      </p:grpSpPr>
      <p:sp>
        <p:nvSpPr>
          <p:cNvPr id="103" name="Google Shape;103;p5:notes">
            <a:extLst>
              <a:ext uri="{FF2B5EF4-FFF2-40B4-BE49-F238E27FC236}">
                <a16:creationId xmlns:a16="http://schemas.microsoft.com/office/drawing/2014/main" id="{3BD8B2C0-4E00-F9BD-2B8D-29CAD43A57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a:extLst>
              <a:ext uri="{FF2B5EF4-FFF2-40B4-BE49-F238E27FC236}">
                <a16:creationId xmlns:a16="http://schemas.microsoft.com/office/drawing/2014/main" id="{9140EE8D-6AF4-793C-EA3B-E24A0A33DC1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4981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5787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644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2383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2893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488F44A-C1B6-9FC7-F97F-C59D809B728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06B2282-B728-D116-A517-04430E1DD3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FFE96BA-37E1-5CD7-FA29-918613137D9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3983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94859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9267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F0486CB-24FC-2E04-F8A2-CFF37161BB6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BA6E944-0D2D-DC2B-EAB5-A380AED4A1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4" name="Google Shape;94;p2:notes">
            <a:extLst>
              <a:ext uri="{FF2B5EF4-FFF2-40B4-BE49-F238E27FC236}">
                <a16:creationId xmlns:a16="http://schemas.microsoft.com/office/drawing/2014/main" id="{96054BB7-C8EC-65C5-D9AF-3A9E9E44BE3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3800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1B0B20D-9864-B9E8-537D-82DB1275CCE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4B9A1EB-862B-8481-CDDD-72081C6084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8DF0B15-89AF-8BAB-272C-D4D1D65700A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3882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824E141-A191-30C0-D91A-752E780F082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3FDF90C-DE8E-DE84-133C-3BE7B4C62A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50F902A-F2E0-41D3-F733-9AA0A21D76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9497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24923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3BAB7AE-4054-A606-28A1-A2608FEED96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531180D-4A32-AECF-3370-A8C5C396EB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6AA6945-DFFE-90CD-BD51-B31ECFDF8E0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77672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7CF1EF2-B952-A1B6-FB01-799D7BB74A2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35FCBEE-4944-7758-242A-FF975A0566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F9B5DD1-5DA1-FE7D-F8D2-C0C78084E0C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2920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007269" y="2175236"/>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IN" sz="3200" dirty="0">
                <a:solidFill>
                  <a:srgbClr val="000000"/>
                </a:solidFill>
                <a:latin typeface="Times New Roman" panose="02020603050405020304" pitchFamily="18" charset="0"/>
                <a:cs typeface="Times New Roman" panose="02020603050405020304" pitchFamily="18" charset="0"/>
              </a:rPr>
              <a:t>SMART SYSTEM FOR WORKPLACE POSTURE MONITORING</a:t>
            </a:r>
            <a:endParaRPr lang="en-US" sz="3200" dirty="0">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4386263" y="4586288"/>
            <a:ext cx="4605337" cy="1981200"/>
          </a:xfrm>
          <a:prstGeom prst="rect">
            <a:avLst/>
          </a:prstGeom>
          <a:noFill/>
          <a:ln>
            <a:noFill/>
          </a:ln>
        </p:spPr>
        <p:txBody>
          <a:bodyPr spcFirstLastPara="1" wrap="square" lIns="91425" tIns="45700" rIns="91425" bIns="45700" anchor="t" anchorCtr="0">
            <a:normAutofit fontScale="55000" lnSpcReduction="20000"/>
          </a:bodyPr>
          <a:lstStyle/>
          <a:p>
            <a:pPr marL="0" indent="0">
              <a:spcBef>
                <a:spcPts val="0"/>
              </a:spcBef>
              <a:buSzPct val="100000"/>
            </a:pPr>
            <a:r>
              <a:rPr lang="en-US" dirty="0">
                <a:latin typeface="Times New Roman" panose="02020603050405020304" pitchFamily="18" charset="0"/>
                <a:cs typeface="Times New Roman" panose="02020603050405020304" pitchFamily="18" charset="0"/>
              </a:rPr>
              <a:t>Batch ID:</a:t>
            </a:r>
            <a:endParaRPr lang="en-US" b="1" u="sng"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1 Reg. No: </a:t>
            </a:r>
            <a:r>
              <a:rPr lang="en-US" b="1" u="sng" dirty="0">
                <a:latin typeface="Times New Roman" panose="02020603050405020304" pitchFamily="18" charset="0"/>
                <a:cs typeface="Times New Roman" panose="02020603050405020304" pitchFamily="18" charset="0"/>
              </a:rPr>
              <a:t>RA2011003010415</a:t>
            </a:r>
            <a:endParaRPr b="1" u="sng" dirty="0">
              <a:latin typeface="Times New Roman" panose="02020603050405020304" pitchFamily="18" charset="0"/>
              <a:cs typeface="Times New Roman" panose="02020603050405020304" pitchFamily="18" charset="0"/>
            </a:endParaRPr>
          </a:p>
          <a:p>
            <a:pPr marL="0" indent="0">
              <a:spcBef>
                <a:spcPts val="592"/>
              </a:spcBef>
              <a:buSzPct val="100000"/>
            </a:pPr>
            <a:r>
              <a:rPr lang="en-US" dirty="0">
                <a:latin typeface="Times New Roman" panose="02020603050405020304" pitchFamily="18" charset="0"/>
                <a:cs typeface="Times New Roman" panose="02020603050405020304" pitchFamily="18" charset="0"/>
              </a:rPr>
              <a:t>Student 1 Name: </a:t>
            </a:r>
            <a:r>
              <a:rPr lang="en-US" b="1" u="sng" dirty="0">
                <a:latin typeface="Times New Roman" panose="02020603050405020304" pitchFamily="18" charset="0"/>
                <a:cs typeface="Times New Roman" panose="02020603050405020304" pitchFamily="18" charset="0"/>
              </a:rPr>
              <a:t>Arnav Srivastava</a:t>
            </a:r>
          </a:p>
          <a:p>
            <a:pPr marL="0" lvl="0" indent="0" algn="ctr" rtl="0">
              <a:spcBef>
                <a:spcPts val="592"/>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592"/>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2 Reg. No: </a:t>
            </a:r>
            <a:r>
              <a:rPr lang="en-US" b="1" u="sng" dirty="0">
                <a:latin typeface="Times New Roman" panose="02020603050405020304" pitchFamily="18" charset="0"/>
                <a:cs typeface="Times New Roman" panose="02020603050405020304" pitchFamily="18" charset="0"/>
              </a:rPr>
              <a:t>RA2011003010410</a:t>
            </a:r>
          </a:p>
          <a:p>
            <a:pPr marL="0" lvl="0" indent="0">
              <a:spcBef>
                <a:spcPts val="592"/>
              </a:spcBef>
              <a:buSzPct val="100000"/>
            </a:pPr>
            <a:r>
              <a:rPr lang="en-US" dirty="0">
                <a:latin typeface="Times New Roman" panose="02020603050405020304" pitchFamily="18" charset="0"/>
                <a:cs typeface="Times New Roman" panose="02020603050405020304" pitchFamily="18" charset="0"/>
              </a:rPr>
              <a:t>Student 2 Name: </a:t>
            </a:r>
            <a:r>
              <a:rPr lang="en-US" b="1" u="sng" dirty="0">
                <a:latin typeface="Times New Roman" panose="02020603050405020304" pitchFamily="18" charset="0"/>
                <a:cs typeface="Times New Roman" panose="02020603050405020304" pitchFamily="18" charset="0"/>
              </a:rPr>
              <a:t>Ankit Singh</a:t>
            </a:r>
            <a:endParaRPr b="1" u="sng" dirty="0">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228600" y="553353"/>
            <a:ext cx="1735931" cy="755015"/>
          </a:xfrm>
          <a:prstGeom prst="rect">
            <a:avLst/>
          </a:prstGeom>
          <a:noFill/>
          <a:ln>
            <a:noFill/>
          </a:ln>
        </p:spPr>
      </p:pic>
      <p:sp>
        <p:nvSpPr>
          <p:cNvPr id="91" name="Google Shape;91;p1"/>
          <p:cNvSpPr/>
          <p:nvPr/>
        </p:nvSpPr>
        <p:spPr>
          <a:xfrm>
            <a:off x="1964531" y="569724"/>
            <a:ext cx="61722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DEPARTMENT OF COMPUTING TECHNOLOGIES</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algn="ct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18CSP109L - MAJOR PROJECT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89;p1"/>
          <p:cNvSpPr txBox="1">
            <a:spLocks/>
          </p:cNvSpPr>
          <p:nvPr/>
        </p:nvSpPr>
        <p:spPr>
          <a:xfrm>
            <a:off x="228600" y="5243512"/>
            <a:ext cx="3471862" cy="1190625"/>
          </a:xfrm>
          <a:prstGeom prst="rect">
            <a:avLst/>
          </a:prstGeom>
          <a:noFill/>
          <a:ln>
            <a:noFill/>
          </a:ln>
        </p:spPr>
        <p:txBody>
          <a:bodyPr spcFirstLastPara="1" wrap="square" lIns="91425" tIns="45700" rIns="91425" bIns="45700" anchor="t" anchorCtr="0">
            <a:normAutofit fontScale="40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70000"/>
              </a:lnSpc>
              <a:spcBef>
                <a:spcPts val="592"/>
              </a:spcBef>
              <a:buSzPct val="100000"/>
            </a:pPr>
            <a:r>
              <a:rPr lang="en-US" b="1" dirty="0">
                <a:latin typeface="Times New Roman" panose="02020603050405020304" pitchFamily="18" charset="0"/>
                <a:cs typeface="Times New Roman" panose="02020603050405020304" pitchFamily="18" charset="0"/>
              </a:rPr>
              <a:t>Guide name: </a:t>
            </a:r>
            <a:r>
              <a:rPr lang="en-US" b="1" u="sng" dirty="0">
                <a:latin typeface="Times New Roman" panose="02020603050405020304" pitchFamily="18" charset="0"/>
                <a:cs typeface="Times New Roman" panose="02020603050405020304" pitchFamily="18" charset="0"/>
              </a:rPr>
              <a:t>Dr. M. Karthikeyan </a:t>
            </a:r>
          </a:p>
          <a:p>
            <a:pPr marL="0" indent="0">
              <a:lnSpc>
                <a:spcPct val="170000"/>
              </a:lnSpc>
              <a:spcBef>
                <a:spcPts val="592"/>
              </a:spcBef>
              <a:buSzPct val="100000"/>
            </a:pPr>
            <a:r>
              <a:rPr lang="en-US" b="1" dirty="0">
                <a:latin typeface="Times New Roman" panose="02020603050405020304" pitchFamily="18" charset="0"/>
                <a:cs typeface="Times New Roman" panose="02020603050405020304" pitchFamily="18" charset="0"/>
              </a:rPr>
              <a:t>Designation: </a:t>
            </a:r>
            <a:r>
              <a:rPr lang="en-US" b="1" u="sng" dirty="0">
                <a:latin typeface="Times New Roman" panose="02020603050405020304" pitchFamily="18" charset="0"/>
                <a:cs typeface="Times New Roman" panose="02020603050405020304" pitchFamily="18" charset="0"/>
              </a:rPr>
              <a:t>Assistant Professor</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Department: </a:t>
            </a:r>
            <a:r>
              <a:rPr lang="en-US" b="1" u="sng" dirty="0">
                <a:latin typeface="Times New Roman" panose="02020603050405020304" pitchFamily="18" charset="0"/>
                <a:cs typeface="Times New Roman" panose="02020603050405020304" pitchFamily="18" charset="0"/>
              </a:rPr>
              <a:t>C-Tech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Abstract</a:t>
            </a:r>
            <a:endParaRPr dirty="0"/>
          </a:p>
        </p:txBody>
      </p:sp>
      <p:sp>
        <p:nvSpPr>
          <p:cNvPr id="97" name="Google Shape;9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3200"/>
              <a:buNone/>
            </a:pP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marL="114300" indent="0">
              <a:buNone/>
            </a:pPr>
            <a:r>
              <a:rPr lang="en-GB" sz="1800" dirty="0">
                <a:effectLst/>
                <a:latin typeface="TimesNewRomanPS"/>
              </a:rPr>
              <a:t>The shift from traditional in-person work to telecommuting, prompted by the pandemic, has led many employees to spend more extended periods in front of computers. Moreover, the abrupt transition to home workstations has resulted in setups that may not meet ergonomic standards for comfortable and proper positioning. From the perspective of occupational risk prevention in the medical field, there is a need for an automated tool capable of quantifying the level of incorrect posture in telecommuting employees. To address this issue, this study introduces a system focused on detecting and </a:t>
            </a:r>
            <a:r>
              <a:rPr lang="en-GB" sz="1800" dirty="0" err="1">
                <a:effectLst/>
                <a:latin typeface="TimesNewRomanPS"/>
              </a:rPr>
              <a:t>analyzing</a:t>
            </a:r>
            <a:r>
              <a:rPr lang="en-GB" sz="1800" dirty="0">
                <a:effectLst/>
                <a:latin typeface="TimesNewRomanPS"/>
              </a:rPr>
              <a:t> the posture of teleworkers. The system, implemented and tested, relies on specialized hardware employing convolutional neural networks to process real-time video. It identifies the posture of the neck, shoulders, and arms, offering recommendations to prevent potential health issues arising from poor posture. The results demonstrate that this video processing can occur in real time (up to 25 frames per second), with minimal power consumption (below 10 watts) using dedicated hardware, achieving an accuracy rate exceeding 80% in terms of posture detection.</a:t>
            </a:r>
            <a:endParaRPr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983663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Introduction</a:t>
            </a:r>
            <a:endParaRPr dirty="0"/>
          </a:p>
        </p:txBody>
      </p:sp>
      <p:sp>
        <p:nvSpPr>
          <p:cNvPr id="97" name="Google Shape;97;p2"/>
          <p:cNvSpPr txBox="1">
            <a:spLocks noGrp="1"/>
          </p:cNvSpPr>
          <p:nvPr>
            <p:ph type="body" idx="1"/>
          </p:nvPr>
        </p:nvSpPr>
        <p:spPr>
          <a:xfrm>
            <a:off x="457200" y="1600200"/>
            <a:ext cx="8229600" cy="4756149"/>
          </a:xfrm>
          <a:prstGeom prst="rect">
            <a:avLst/>
          </a:prstGeom>
          <a:noFill/>
          <a:ln>
            <a:noFill/>
          </a:ln>
        </p:spPr>
        <p:txBody>
          <a:bodyPr spcFirstLastPara="1" wrap="square" lIns="91425" tIns="45700" rIns="91425" bIns="45700" anchor="t" anchorCtr="0">
            <a:noAutofit/>
          </a:bodyPr>
          <a:lstStyle/>
          <a:p>
            <a:pPr marL="114300" indent="0">
              <a:buNone/>
            </a:pPr>
            <a:r>
              <a:rPr lang="en-GB" sz="1400" dirty="0">
                <a:effectLst/>
                <a:latin typeface="Times New Roman" panose="02020603050405020304" pitchFamily="18" charset="0"/>
                <a:cs typeface="Times New Roman" panose="02020603050405020304" pitchFamily="18" charset="0"/>
              </a:rPr>
              <a:t>1. </a:t>
            </a:r>
            <a:r>
              <a:rPr lang="en-GB" sz="1400" b="1" dirty="0">
                <a:effectLst/>
                <a:latin typeface="Times New Roman" panose="02020603050405020304" pitchFamily="18" charset="0"/>
                <a:cs typeface="Times New Roman" panose="02020603050405020304" pitchFamily="18" charset="0"/>
              </a:rPr>
              <a:t>Prevalence of Lower Back Pain:</a:t>
            </a:r>
          </a:p>
          <a:p>
            <a:pPr marL="114300" indent="0">
              <a:buNone/>
            </a:pPr>
            <a:r>
              <a:rPr lang="en-GB" sz="1400" dirty="0">
                <a:effectLst/>
                <a:latin typeface="Times New Roman" panose="02020603050405020304" pitchFamily="18" charset="0"/>
                <a:cs typeface="Times New Roman" panose="02020603050405020304" pitchFamily="18" charset="0"/>
              </a:rPr>
              <a:t>   - Global lower back pain: 15-45%.</a:t>
            </a:r>
          </a:p>
          <a:p>
            <a:pPr marL="114300" indent="0">
              <a:buNone/>
            </a:pPr>
            <a:r>
              <a:rPr lang="en-GB" sz="1400" dirty="0">
                <a:effectLst/>
                <a:latin typeface="Times New Roman" panose="02020603050405020304" pitchFamily="18" charset="0"/>
                <a:cs typeface="Times New Roman" panose="02020603050405020304" pitchFamily="18" charset="0"/>
              </a:rPr>
              <a:t>   - Adults prone, kids less.</a:t>
            </a:r>
          </a:p>
          <a:p>
            <a:pPr marL="114300" indent="0">
              <a:buNone/>
            </a:pPr>
            <a:r>
              <a:rPr lang="en-GB" sz="1400" dirty="0">
                <a:effectLst/>
                <a:latin typeface="Times New Roman" panose="02020603050405020304" pitchFamily="18" charset="0"/>
                <a:cs typeface="Times New Roman" panose="02020603050405020304" pitchFamily="18" charset="0"/>
              </a:rPr>
              <a:t>   - Work, activity disrupted.</a:t>
            </a:r>
          </a:p>
          <a:p>
            <a:pPr marL="114300" indent="0">
              <a:buNone/>
            </a:pPr>
            <a:endParaRPr lang="en-GB" sz="1400" dirty="0">
              <a:effectLst/>
              <a:latin typeface="Times New Roman" panose="02020603050405020304" pitchFamily="18" charset="0"/>
              <a:cs typeface="Times New Roman" panose="02020603050405020304" pitchFamily="18" charset="0"/>
            </a:endParaRPr>
          </a:p>
          <a:p>
            <a:pPr marL="114300" indent="0">
              <a:buNone/>
            </a:pPr>
            <a:r>
              <a:rPr lang="en-GB" sz="1400" dirty="0">
                <a:effectLst/>
                <a:latin typeface="Times New Roman" panose="02020603050405020304" pitchFamily="18" charset="0"/>
                <a:cs typeface="Times New Roman" panose="02020603050405020304" pitchFamily="18" charset="0"/>
              </a:rPr>
              <a:t>2. </a:t>
            </a:r>
            <a:r>
              <a:rPr lang="en-GB" sz="1400" b="1" dirty="0">
                <a:effectLst/>
                <a:latin typeface="Times New Roman" panose="02020603050405020304" pitchFamily="18" charset="0"/>
                <a:cs typeface="Times New Roman" panose="02020603050405020304" pitchFamily="18" charset="0"/>
              </a:rPr>
              <a:t>Importance of Ergonomics:</a:t>
            </a:r>
          </a:p>
          <a:p>
            <a:pPr marL="114300" indent="0">
              <a:buNone/>
            </a:pPr>
            <a:r>
              <a:rPr lang="en-GB" sz="1400" dirty="0">
                <a:effectLst/>
                <a:latin typeface="Times New Roman" panose="02020603050405020304" pitchFamily="18" charset="0"/>
                <a:cs typeface="Times New Roman" panose="02020603050405020304" pitchFamily="18" charset="0"/>
              </a:rPr>
              <a:t>   - Efficient systems crucial.</a:t>
            </a:r>
          </a:p>
          <a:p>
            <a:pPr marL="114300" indent="0">
              <a:buNone/>
            </a:pPr>
            <a:r>
              <a:rPr lang="en-GB" sz="1400" dirty="0">
                <a:effectLst/>
                <a:latin typeface="Times New Roman" panose="02020603050405020304" pitchFamily="18" charset="0"/>
                <a:cs typeface="Times New Roman" panose="02020603050405020304" pitchFamily="18" charset="0"/>
              </a:rPr>
              <a:t>   - Ergonomics boosts productivity.</a:t>
            </a:r>
          </a:p>
          <a:p>
            <a:pPr marL="114300" indent="0">
              <a:buNone/>
            </a:pPr>
            <a:endParaRPr lang="en-GB" sz="1400" dirty="0">
              <a:effectLst/>
              <a:latin typeface="Times New Roman" panose="02020603050405020304" pitchFamily="18" charset="0"/>
              <a:cs typeface="Times New Roman" panose="02020603050405020304" pitchFamily="18" charset="0"/>
            </a:endParaRPr>
          </a:p>
          <a:p>
            <a:pPr marL="114300" indent="0">
              <a:buNone/>
            </a:pPr>
            <a:r>
              <a:rPr lang="en-GB" sz="1400" dirty="0">
                <a:effectLst/>
                <a:latin typeface="Times New Roman" panose="02020603050405020304" pitchFamily="18" charset="0"/>
                <a:cs typeface="Times New Roman" panose="02020603050405020304" pitchFamily="18" charset="0"/>
              </a:rPr>
              <a:t>3. </a:t>
            </a:r>
            <a:r>
              <a:rPr lang="en-GB" sz="1400" b="1" dirty="0">
                <a:effectLst/>
                <a:latin typeface="Times New Roman" panose="02020603050405020304" pitchFamily="18" charset="0"/>
                <a:cs typeface="Times New Roman" panose="02020603050405020304" pitchFamily="18" charset="0"/>
              </a:rPr>
              <a:t>COVID-19 Impact:</a:t>
            </a:r>
          </a:p>
          <a:p>
            <a:pPr marL="114300" indent="0">
              <a:buNone/>
            </a:pPr>
            <a:r>
              <a:rPr lang="en-GB" sz="1400" dirty="0">
                <a:effectLst/>
                <a:latin typeface="Times New Roman" panose="02020603050405020304" pitchFamily="18" charset="0"/>
                <a:cs typeface="Times New Roman" panose="02020603050405020304" pitchFamily="18" charset="0"/>
              </a:rPr>
              <a:t>   - COVID boosts screen use.</a:t>
            </a:r>
          </a:p>
          <a:p>
            <a:pPr marL="114300" indent="0">
              <a:buNone/>
            </a:pPr>
            <a:r>
              <a:rPr lang="en-GB" sz="1400" dirty="0">
                <a:effectLst/>
                <a:latin typeface="Times New Roman" panose="02020603050405020304" pitchFamily="18" charset="0"/>
                <a:cs typeface="Times New Roman" panose="02020603050405020304" pitchFamily="18" charset="0"/>
              </a:rPr>
              <a:t>   - Posture matters, avoid discomfort.</a:t>
            </a:r>
          </a:p>
          <a:p>
            <a:pPr marL="114300" indent="0">
              <a:buNone/>
            </a:pPr>
            <a:endParaRPr lang="en-GB" sz="1400" dirty="0">
              <a:effectLst/>
              <a:latin typeface="Times New Roman" panose="02020603050405020304" pitchFamily="18" charset="0"/>
              <a:cs typeface="Times New Roman" panose="02020603050405020304" pitchFamily="18" charset="0"/>
            </a:endParaRPr>
          </a:p>
          <a:p>
            <a:pPr marL="114300" indent="0">
              <a:buNone/>
            </a:pPr>
            <a:r>
              <a:rPr lang="en-GB" sz="1400" dirty="0">
                <a:effectLst/>
                <a:latin typeface="Times New Roman" panose="02020603050405020304" pitchFamily="18" charset="0"/>
                <a:cs typeface="Times New Roman" panose="02020603050405020304" pitchFamily="18" charset="0"/>
              </a:rPr>
              <a:t>4. </a:t>
            </a:r>
            <a:r>
              <a:rPr lang="en-GB" sz="1400" b="1" dirty="0">
                <a:effectLst/>
                <a:latin typeface="Times New Roman" panose="02020603050405020304" pitchFamily="18" charset="0"/>
                <a:cs typeface="Times New Roman" panose="02020603050405020304" pitchFamily="18" charset="0"/>
              </a:rPr>
              <a:t>Role of Internet of Things (IoT):</a:t>
            </a:r>
          </a:p>
          <a:p>
            <a:pPr marL="114300" indent="0">
              <a:buNone/>
            </a:pPr>
            <a:r>
              <a:rPr lang="en-GB" sz="1400" dirty="0">
                <a:effectLst/>
                <a:latin typeface="Times New Roman" panose="02020603050405020304" pitchFamily="18" charset="0"/>
                <a:cs typeface="Times New Roman" panose="02020603050405020304" pitchFamily="18" charset="0"/>
              </a:rPr>
              <a:t>   - IoT revolutionizes healthcare.</a:t>
            </a:r>
          </a:p>
          <a:p>
            <a:pPr marL="114300" indent="0">
              <a:buNone/>
            </a:pPr>
            <a:r>
              <a:rPr lang="en-GB" sz="1400" dirty="0">
                <a:effectLst/>
                <a:latin typeface="Times New Roman" panose="02020603050405020304" pitchFamily="18" charset="0"/>
                <a:cs typeface="Times New Roman" panose="02020603050405020304" pitchFamily="18" charset="0"/>
              </a:rPr>
              <a:t>   - Rising wearables impact healthcare.</a:t>
            </a: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066086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AA70D90-4601-7BD4-DABA-37A94EECCF09}"/>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B1C1D2E-A0F5-65B3-C207-CBCC245613CE}"/>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a:extLst>
              <a:ext uri="{FF2B5EF4-FFF2-40B4-BE49-F238E27FC236}">
                <a16:creationId xmlns:a16="http://schemas.microsoft.com/office/drawing/2014/main" id="{18E7E119-1E89-6286-64BE-94D8E4CBD5EB}"/>
              </a:ext>
            </a:extLst>
          </p:cNvPr>
          <p:cNvSpPr txBox="1">
            <a:spLocks noGrp="1"/>
          </p:cNvSpPr>
          <p:nvPr>
            <p:ph type="body" idx="1"/>
          </p:nvPr>
        </p:nvSpPr>
        <p:spPr>
          <a:xfrm>
            <a:off x="457200" y="1600201"/>
            <a:ext cx="8229600" cy="4254190"/>
          </a:xfrm>
          <a:prstGeom prst="rect">
            <a:avLst/>
          </a:prstGeom>
          <a:noFill/>
          <a:ln>
            <a:noFill/>
          </a:ln>
        </p:spPr>
        <p:txBody>
          <a:bodyPr spcFirstLastPara="1" wrap="square" lIns="91425" tIns="45700" rIns="91425" bIns="45700" anchor="t" anchorCtr="0">
            <a:noAutofit/>
          </a:bodyPr>
          <a:lstStyle/>
          <a:p>
            <a:pPr marL="114300" indent="0">
              <a:buNone/>
            </a:pPr>
            <a:r>
              <a:rPr lang="en-GB" sz="1400" dirty="0">
                <a:effectLst/>
                <a:latin typeface="Times New Roman" panose="02020603050405020304" pitchFamily="18" charset="0"/>
                <a:cs typeface="Times New Roman" panose="02020603050405020304" pitchFamily="18" charset="0"/>
              </a:rPr>
              <a:t>5. </a:t>
            </a:r>
            <a:r>
              <a:rPr lang="en-GB" sz="1400" b="1" dirty="0">
                <a:effectLst/>
                <a:latin typeface="Times New Roman" panose="02020603050405020304" pitchFamily="18" charset="0"/>
                <a:cs typeface="Times New Roman" panose="02020603050405020304" pitchFamily="18" charset="0"/>
              </a:rPr>
              <a:t>Proposed Sensor-Based Application:</a:t>
            </a:r>
          </a:p>
          <a:p>
            <a:pPr marL="114300" indent="0">
              <a:buNone/>
            </a:pPr>
            <a:r>
              <a:rPr lang="en-GB" sz="1400" dirty="0">
                <a:effectLst/>
                <a:latin typeface="Times New Roman" panose="02020603050405020304" pitchFamily="18" charset="0"/>
                <a:cs typeface="Times New Roman" panose="02020603050405020304" pitchFamily="18" charset="0"/>
              </a:rPr>
              <a:t>   - Sensor app aids health.</a:t>
            </a:r>
          </a:p>
          <a:p>
            <a:pPr marL="114300" indent="0">
              <a:buNone/>
            </a:pPr>
            <a:r>
              <a:rPr lang="en-GB" sz="1400" dirty="0">
                <a:effectLst/>
                <a:latin typeface="Times New Roman" panose="02020603050405020304" pitchFamily="18" charset="0"/>
                <a:cs typeface="Times New Roman" panose="02020603050405020304" pitchFamily="18" charset="0"/>
              </a:rPr>
              <a:t>   - Posture detection system: Analytics.</a:t>
            </a:r>
          </a:p>
          <a:p>
            <a:pPr marL="114300" indent="0">
              <a:buNone/>
            </a:pPr>
            <a:endParaRPr lang="en-GB" sz="1400" dirty="0">
              <a:effectLst/>
              <a:latin typeface="Times New Roman" panose="02020603050405020304" pitchFamily="18" charset="0"/>
              <a:cs typeface="Times New Roman" panose="02020603050405020304" pitchFamily="18" charset="0"/>
            </a:endParaRPr>
          </a:p>
          <a:p>
            <a:pPr marL="114300" indent="0">
              <a:buNone/>
            </a:pPr>
            <a:r>
              <a:rPr lang="en-GB" sz="1400" dirty="0">
                <a:effectLst/>
                <a:latin typeface="Times New Roman" panose="02020603050405020304" pitchFamily="18" charset="0"/>
                <a:cs typeface="Times New Roman" panose="02020603050405020304" pitchFamily="18" charset="0"/>
              </a:rPr>
              <a:t>6. </a:t>
            </a:r>
            <a:r>
              <a:rPr lang="en-GB" sz="1400" b="1" dirty="0">
                <a:effectLst/>
                <a:latin typeface="Times New Roman" panose="02020603050405020304" pitchFamily="18" charset="0"/>
                <a:cs typeface="Times New Roman" panose="02020603050405020304" pitchFamily="18" charset="0"/>
              </a:rPr>
              <a:t>Unique Features of Proposed System:</a:t>
            </a:r>
          </a:p>
          <a:p>
            <a:pPr marL="114300" indent="0">
              <a:buNone/>
            </a:pPr>
            <a:r>
              <a:rPr lang="en-GB" sz="1400" dirty="0">
                <a:effectLst/>
                <a:latin typeface="Times New Roman" panose="02020603050405020304" pitchFamily="18" charset="0"/>
                <a:cs typeface="Times New Roman" panose="02020603050405020304" pitchFamily="18" charset="0"/>
              </a:rPr>
              <a:t>   - System detects posture, notifies.</a:t>
            </a:r>
          </a:p>
          <a:p>
            <a:pPr marL="114300" indent="0">
              <a:buNone/>
            </a:pPr>
            <a:r>
              <a:rPr lang="en-GB" sz="1400" dirty="0">
                <a:effectLst/>
                <a:latin typeface="Times New Roman" panose="02020603050405020304" pitchFamily="18" charset="0"/>
                <a:cs typeface="Times New Roman" panose="02020603050405020304" pitchFamily="18" charset="0"/>
              </a:rPr>
              <a:t>   - Posture history tracked.</a:t>
            </a:r>
          </a:p>
          <a:p>
            <a:pPr marL="114300" indent="0">
              <a:buNone/>
            </a:pPr>
            <a:endParaRPr lang="en-GB" sz="1400" dirty="0">
              <a:effectLst/>
              <a:latin typeface="Times New Roman" panose="02020603050405020304" pitchFamily="18" charset="0"/>
              <a:cs typeface="Times New Roman" panose="02020603050405020304" pitchFamily="18" charset="0"/>
            </a:endParaRPr>
          </a:p>
          <a:p>
            <a:pPr marL="114300" indent="0">
              <a:buNone/>
            </a:pPr>
            <a:r>
              <a:rPr lang="en-GB" sz="1400" dirty="0">
                <a:effectLst/>
                <a:latin typeface="Times New Roman" panose="02020603050405020304" pitchFamily="18" charset="0"/>
                <a:cs typeface="Times New Roman" panose="02020603050405020304" pitchFamily="18" charset="0"/>
              </a:rPr>
              <a:t>7. </a:t>
            </a:r>
            <a:r>
              <a:rPr lang="en-GB" sz="1400" b="1" dirty="0">
                <a:effectLst/>
                <a:latin typeface="Times New Roman" panose="02020603050405020304" pitchFamily="18" charset="0"/>
                <a:cs typeface="Times New Roman" panose="02020603050405020304" pitchFamily="18" charset="0"/>
              </a:rPr>
              <a:t>Survey and Prototype Design:</a:t>
            </a:r>
          </a:p>
          <a:p>
            <a:pPr marL="114300" indent="0">
              <a:buNone/>
            </a:pPr>
            <a:r>
              <a:rPr lang="en-GB" sz="1400" dirty="0">
                <a:effectLst/>
                <a:latin typeface="Times New Roman" panose="02020603050405020304" pitchFamily="18" charset="0"/>
                <a:cs typeface="Times New Roman" panose="02020603050405020304" pitchFamily="18" charset="0"/>
              </a:rPr>
              <a:t>   - Survey gauges back pain.</a:t>
            </a:r>
          </a:p>
          <a:p>
            <a:pPr marL="114300" indent="0">
              <a:buNone/>
            </a:pPr>
            <a:r>
              <a:rPr lang="en-GB" sz="1400" dirty="0">
                <a:effectLst/>
                <a:latin typeface="Times New Roman" panose="02020603050405020304" pitchFamily="18" charset="0"/>
                <a:cs typeface="Times New Roman" panose="02020603050405020304" pitchFamily="18" charset="0"/>
              </a:rPr>
              <a:t>   - Survey shapes prototype.</a:t>
            </a:r>
            <a:endParaRPr lang="en-IN" sz="1400" dirty="0">
              <a:effectLs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6B418884-7C1D-19B6-FB53-29FBECEB0E33}"/>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84A08E46-233F-663B-E50F-4D62F607D1A4}"/>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0" name="Google Shape;100;p2">
            <a:extLst>
              <a:ext uri="{FF2B5EF4-FFF2-40B4-BE49-F238E27FC236}">
                <a16:creationId xmlns:a16="http://schemas.microsoft.com/office/drawing/2014/main" id="{6E7CD6F0-2A52-3314-6179-C6ACF5B9C872}"/>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5761B1CF-38EB-C421-8C0A-8A9A510E31F5}"/>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875762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Motivation</a:t>
            </a:r>
            <a:endParaRPr dirty="0"/>
          </a:p>
        </p:txBody>
      </p:sp>
      <p:sp>
        <p:nvSpPr>
          <p:cNvPr id="97" name="Google Shape;9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1.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Health and Well-being:</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Telecommuter health priority.</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Posture impacts health.</a:t>
            </a:r>
          </a:p>
          <a:p>
            <a:pPr marL="0" lvl="0" indent="0" algn="l" rtl="0">
              <a:spcBef>
                <a:spcPts val="0"/>
              </a:spcBef>
              <a:spcAft>
                <a:spcPts val="0"/>
              </a:spcAft>
              <a:buClr>
                <a:schemeClr val="dk1"/>
              </a:buClr>
              <a:buSzPts val="3200"/>
              <a:buNone/>
            </a:pPr>
            <a:endParaRPr lang="en-GB"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2.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Ergonomic Concerns:</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Home workstation challenges: ergonomics lacking.</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Address ergonomics for improvement.</a:t>
            </a:r>
          </a:p>
          <a:p>
            <a:pPr marL="0" lvl="0" indent="0" algn="l" rtl="0">
              <a:spcBef>
                <a:spcPts val="0"/>
              </a:spcBef>
              <a:spcAft>
                <a:spcPts val="0"/>
              </a:spcAft>
              <a:buClr>
                <a:schemeClr val="dk1"/>
              </a:buClr>
              <a:buSzPts val="3200"/>
              <a:buNone/>
            </a:pPr>
            <a:endParaRPr lang="en-GB"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3.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Occupational Risk Prevention:</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Occupational risk prevention crucial.</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Automated tool crucial.</a:t>
            </a:r>
          </a:p>
          <a:p>
            <a:pPr marL="0" lvl="0" indent="0" algn="l" rtl="0">
              <a:spcBef>
                <a:spcPts val="0"/>
              </a:spcBef>
              <a:spcAft>
                <a:spcPts val="0"/>
              </a:spcAft>
              <a:buClr>
                <a:schemeClr val="dk1"/>
              </a:buClr>
              <a:buSzPts val="3200"/>
              <a:buNone/>
            </a:pPr>
            <a:endParaRPr lang="en-GB"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4.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Innovative Solution:</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Innovative study: posture detection.</a:t>
            </a:r>
          </a:p>
          <a:p>
            <a:pPr marL="0" lvl="0" indent="0" algn="l" rtl="0">
              <a:spcBef>
                <a:spcPts val="0"/>
              </a:spcBef>
              <a:spcAft>
                <a:spcPts val="0"/>
              </a:spcAft>
              <a:buClr>
                <a:schemeClr val="dk1"/>
              </a:buClr>
              <a:buSzPts val="3200"/>
              <a:buNone/>
            </a:pPr>
            <a:endParaRPr lang="en-GB" sz="1400" dirty="0">
              <a:solidFill>
                <a:schemeClr val="tx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5.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Specialized Hardware and Technology:</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Tech and hardware focus.</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Real-time video analysis: accurate posture detection.</a:t>
            </a: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542F52F-5663-B12A-DB39-596CFC9E8169}"/>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E59F49B2-B0DF-28D6-CCDE-13F5C1051A1D}"/>
              </a:ext>
            </a:extLst>
          </p:cNvPr>
          <p:cNvSpPr txBox="1">
            <a:spLocks noGrp="1"/>
          </p:cNvSpPr>
          <p:nvPr>
            <p:ph type="title"/>
          </p:nvPr>
        </p:nvSpPr>
        <p:spPr>
          <a:xfrm>
            <a:off x="457200" y="274638"/>
            <a:ext cx="8229600" cy="103373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a:extLst>
              <a:ext uri="{FF2B5EF4-FFF2-40B4-BE49-F238E27FC236}">
                <a16:creationId xmlns:a16="http://schemas.microsoft.com/office/drawing/2014/main" id="{C5A58E36-6AAD-98FF-3512-F1CD0029C209}"/>
              </a:ext>
            </a:extLst>
          </p:cNvPr>
          <p:cNvSpPr txBox="1">
            <a:spLocks noGrp="1"/>
          </p:cNvSpPr>
          <p:nvPr>
            <p:ph type="body" idx="1"/>
          </p:nvPr>
        </p:nvSpPr>
        <p:spPr>
          <a:xfrm>
            <a:off x="457200" y="1406013"/>
            <a:ext cx="8229600" cy="505378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6.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Preventive Recommendations:</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Timely telecommuter health.</a:t>
            </a:r>
          </a:p>
          <a:p>
            <a:pPr marL="0" lvl="0" indent="0" algn="l" rtl="0">
              <a:spcBef>
                <a:spcPts val="0"/>
              </a:spcBef>
              <a:spcAft>
                <a:spcPts val="0"/>
              </a:spcAft>
              <a:buClr>
                <a:schemeClr val="dk1"/>
              </a:buClr>
              <a:buSzPts val="3200"/>
              <a:buNone/>
            </a:pPr>
            <a:endParaRPr lang="en-GB"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7.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Real-time Processing and Efficiency:</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Real-time video processing: 25fps.</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Minimal power, sustainable hardware.</a:t>
            </a:r>
          </a:p>
          <a:p>
            <a:pPr marL="0" lvl="0" indent="0" algn="l" rtl="0">
              <a:spcBef>
                <a:spcPts val="0"/>
              </a:spcBef>
              <a:spcAft>
                <a:spcPts val="0"/>
              </a:spcAft>
              <a:buClr>
                <a:schemeClr val="dk1"/>
              </a:buClr>
              <a:buSzPts val="3200"/>
              <a:buNone/>
            </a:pPr>
            <a:endParaRPr lang="en-GB"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8.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Validation through Testing:</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Study tested, credible.</a:t>
            </a:r>
          </a:p>
          <a:p>
            <a:pPr marL="0" lvl="0" indent="0" algn="l" rtl="0">
              <a:spcBef>
                <a:spcPts val="0"/>
              </a:spcBef>
              <a:spcAft>
                <a:spcPts val="0"/>
              </a:spcAft>
              <a:buClr>
                <a:schemeClr val="dk1"/>
              </a:buClr>
              <a:buSzPts val="3200"/>
              <a:buNone/>
            </a:pPr>
            <a:endParaRPr lang="en-GB"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9.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Positive Outcomes:</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Positive outcomes emphasized: 80% accuracy.</a:t>
            </a:r>
          </a:p>
          <a:p>
            <a:pPr marL="0" lvl="0" indent="0" algn="l" rtl="0">
              <a:spcBef>
                <a:spcPts val="0"/>
              </a:spcBef>
              <a:spcAft>
                <a:spcPts val="0"/>
              </a:spcAft>
              <a:buClr>
                <a:schemeClr val="dk1"/>
              </a:buClr>
              <a:buSzPts val="3200"/>
              <a:buNone/>
            </a:pPr>
            <a:endParaRPr lang="en-GB"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10. </a:t>
            </a:r>
            <a:r>
              <a:rPr lang="en-GB" sz="1400" b="1" i="0" u="none" strike="noStrike" dirty="0">
                <a:solidFill>
                  <a:schemeClr val="tx1"/>
                </a:solidFill>
                <a:effectLst/>
                <a:latin typeface="Times New Roman" panose="02020603050405020304" pitchFamily="18" charset="0"/>
                <a:cs typeface="Times New Roman" panose="02020603050405020304" pitchFamily="18" charset="0"/>
              </a:rPr>
              <a:t>Overall Impact:</a:t>
            </a:r>
          </a:p>
          <a:p>
            <a:pPr marL="0" lvl="0" indent="0" algn="l" rtl="0">
              <a:spcBef>
                <a:spcPts val="0"/>
              </a:spcBef>
              <a:spcAft>
                <a:spcPts val="0"/>
              </a:spcAft>
              <a:buClr>
                <a:schemeClr val="dk1"/>
              </a:buClr>
              <a:buSzPts val="3200"/>
              <a:buNone/>
            </a:pPr>
            <a:r>
              <a:rPr lang="en-GB" sz="1400" b="0" i="0" u="none" strike="noStrike" dirty="0">
                <a:solidFill>
                  <a:schemeClr val="tx1"/>
                </a:solidFill>
                <a:effectLst/>
                <a:latin typeface="Times New Roman" panose="02020603050405020304" pitchFamily="18" charset="0"/>
                <a:cs typeface="Times New Roman" panose="02020603050405020304" pitchFamily="18" charset="0"/>
              </a:rPr>
              <a:t>    - System promotes health.</a:t>
            </a:r>
            <a:endParaRPr lang="en-IN" sz="1400" b="0" i="0" u="none" strike="noStrike" dirty="0">
              <a:solidFill>
                <a:schemeClr val="tx1"/>
              </a:solidFill>
              <a:effectLst/>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3200"/>
              <a:buNone/>
            </a:pPr>
            <a:endParaRPr lang="en-IN" sz="1400" b="0" i="0" u="none" strike="noStrike" dirty="0">
              <a:solidFill>
                <a:schemeClr val="tx1"/>
              </a:solidFill>
              <a:effectLs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F83953E1-0ED2-E249-33C1-8909C1B8723E}"/>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ECE40DB8-B350-3C5F-773A-A4F949FABFF1}"/>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a:extLst>
              <a:ext uri="{FF2B5EF4-FFF2-40B4-BE49-F238E27FC236}">
                <a16:creationId xmlns:a16="http://schemas.microsoft.com/office/drawing/2014/main" id="{F965D3AB-CA61-5F46-D3F7-29474423F88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4278424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29E66-6FBE-41D0-CE09-ECA2FB25CB89}"/>
              </a:ext>
            </a:extLst>
          </p:cNvPr>
          <p:cNvSpPr>
            <a:spLocks noGrp="1"/>
          </p:cNvSpPr>
          <p:nvPr>
            <p:ph type="title"/>
          </p:nvPr>
        </p:nvSpPr>
        <p:spPr>
          <a:xfrm>
            <a:off x="628650" y="288841"/>
            <a:ext cx="7886700" cy="994172"/>
          </a:xfrm>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5" name="Text Placeholder 4">
            <a:extLst>
              <a:ext uri="{FF2B5EF4-FFF2-40B4-BE49-F238E27FC236}">
                <a16:creationId xmlns:a16="http://schemas.microsoft.com/office/drawing/2014/main" id="{B6A51A35-11EA-76F5-0B38-001035A6C62D}"/>
              </a:ext>
            </a:extLst>
          </p:cNvPr>
          <p:cNvSpPr>
            <a:spLocks noGrp="1"/>
          </p:cNvSpPr>
          <p:nvPr>
            <p:ph type="body" idx="1"/>
          </p:nvPr>
        </p:nvSpPr>
        <p:spPr>
          <a:xfrm>
            <a:off x="457200" y="1406013"/>
            <a:ext cx="8229600" cy="5260257"/>
          </a:xfrm>
        </p:spPr>
        <p:txBody>
          <a:bodyPr>
            <a:normAutofit/>
          </a:bodyPr>
          <a:lstStyle/>
          <a:p>
            <a:pPr marL="114300" indent="0">
              <a:buNone/>
            </a:pPr>
            <a:r>
              <a:rPr lang="en-GB" sz="1400" dirty="0">
                <a:latin typeface="Times New Roman" panose="02020603050405020304" pitchFamily="18" charset="0"/>
                <a:cs typeface="Times New Roman" panose="02020603050405020304" pitchFamily="18" charset="0"/>
              </a:rPr>
              <a:t>1. </a:t>
            </a:r>
            <a:r>
              <a:rPr lang="en-GB" sz="1400" b="1" dirty="0">
                <a:latin typeface="Times New Roman" panose="02020603050405020304" pitchFamily="18" charset="0"/>
                <a:cs typeface="Times New Roman" panose="02020603050405020304" pitchFamily="18" charset="0"/>
              </a:rPr>
              <a:t>Prevalence of Incorrect Posture:</a:t>
            </a:r>
          </a:p>
          <a:p>
            <a:pPr marL="114300" indent="0">
              <a:buNone/>
            </a:pPr>
            <a:r>
              <a:rPr lang="en-GB" sz="1400" dirty="0">
                <a:latin typeface="Times New Roman" panose="02020603050405020304" pitchFamily="18" charset="0"/>
                <a:cs typeface="Times New Roman" panose="02020603050405020304" pitchFamily="18" charset="0"/>
              </a:rPr>
              <a:t>   - Poor posture harms.</a:t>
            </a:r>
          </a:p>
          <a:p>
            <a:pPr marL="114300" indent="0">
              <a:buNone/>
            </a:pPr>
            <a:r>
              <a:rPr lang="en-GB" sz="1400" dirty="0">
                <a:latin typeface="Times New Roman" panose="02020603050405020304" pitchFamily="18" charset="0"/>
                <a:cs typeface="Times New Roman" panose="02020603050405020304" pitchFamily="18" charset="0"/>
              </a:rPr>
              <a:t>   - Poor posture risks.</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2. </a:t>
            </a:r>
            <a:r>
              <a:rPr lang="en-GB" sz="1400" b="1" dirty="0">
                <a:latin typeface="Times New Roman" panose="02020603050405020304" pitchFamily="18" charset="0"/>
                <a:cs typeface="Times New Roman" panose="02020603050405020304" pitchFamily="18" charset="0"/>
              </a:rPr>
              <a:t>Integration of Cameras in Smart Systems:</a:t>
            </a:r>
          </a:p>
          <a:p>
            <a:pPr marL="114300" indent="0">
              <a:buNone/>
            </a:pPr>
            <a:r>
              <a:rPr lang="en-GB" sz="1400" dirty="0">
                <a:latin typeface="Times New Roman" panose="02020603050405020304" pitchFamily="18" charset="0"/>
                <a:cs typeface="Times New Roman" panose="02020603050405020304" pitchFamily="18" charset="0"/>
              </a:rPr>
              <a:t>   - Cameras monitor posture.</a:t>
            </a:r>
          </a:p>
          <a:p>
            <a:pPr marL="114300" indent="0">
              <a:buNone/>
            </a:pPr>
            <a:r>
              <a:rPr lang="en-GB" sz="1400" dirty="0">
                <a:latin typeface="Times New Roman" panose="02020603050405020304" pitchFamily="18" charset="0"/>
                <a:cs typeface="Times New Roman" panose="02020603050405020304" pitchFamily="18" charset="0"/>
              </a:rPr>
              <a:t>   - Non-intrusive, accurate approach.</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3. </a:t>
            </a:r>
            <a:r>
              <a:rPr lang="en-GB" sz="1400" b="1" dirty="0">
                <a:latin typeface="Times New Roman" panose="02020603050405020304" pitchFamily="18" charset="0"/>
                <a:cs typeface="Times New Roman" panose="02020603050405020304" pitchFamily="18" charset="0"/>
              </a:rPr>
              <a:t>Technological Advancements in Computer Vision:</a:t>
            </a:r>
          </a:p>
          <a:p>
            <a:pPr marL="114300" indent="0">
              <a:buNone/>
            </a:pPr>
            <a:r>
              <a:rPr lang="en-GB" sz="1400" dirty="0">
                <a:latin typeface="Times New Roman" panose="02020603050405020304" pitchFamily="18" charset="0"/>
                <a:cs typeface="Times New Roman" panose="02020603050405020304" pitchFamily="18" charset="0"/>
              </a:rPr>
              <a:t>   - Computer vision, CNN fusion.</a:t>
            </a:r>
          </a:p>
          <a:p>
            <a:pPr marL="114300" indent="0">
              <a:buNone/>
            </a:pPr>
            <a:r>
              <a:rPr lang="en-GB" sz="1400" dirty="0">
                <a:latin typeface="Times New Roman" panose="02020603050405020304" pitchFamily="18" charset="0"/>
                <a:cs typeface="Times New Roman" panose="02020603050405020304" pitchFamily="18" charset="0"/>
              </a:rPr>
              <a:t>   - Real-time video processing.</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4. </a:t>
            </a:r>
            <a:r>
              <a:rPr lang="en-GB" sz="1400" b="1" dirty="0">
                <a:latin typeface="Times New Roman" panose="02020603050405020304" pitchFamily="18" charset="0"/>
                <a:cs typeface="Times New Roman" panose="02020603050405020304" pitchFamily="18" charset="0"/>
              </a:rPr>
              <a:t>Holistic Understanding of Workplace Ergonomics:</a:t>
            </a:r>
          </a:p>
          <a:p>
            <a:pPr marL="114300" indent="0">
              <a:buNone/>
            </a:pPr>
            <a:r>
              <a:rPr lang="en-GB" sz="1400" dirty="0">
                <a:latin typeface="Times New Roman" panose="02020603050405020304" pitchFamily="18" charset="0"/>
                <a:cs typeface="Times New Roman" panose="02020603050405020304" pitchFamily="18" charset="0"/>
              </a:rPr>
              <a:t>   - Holistic ergonomics with cameras.</a:t>
            </a:r>
          </a:p>
          <a:p>
            <a:pPr marL="114300" indent="0">
              <a:buNone/>
            </a:pPr>
            <a:r>
              <a:rPr lang="en-GB" sz="1400" dirty="0">
                <a:latin typeface="Times New Roman" panose="02020603050405020304" pitchFamily="18" charset="0"/>
                <a:cs typeface="Times New Roman" panose="02020603050405020304" pitchFamily="18" charset="0"/>
              </a:rPr>
              <a:t>   - Posture systems proactive.</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5. </a:t>
            </a:r>
            <a:r>
              <a:rPr lang="en-GB" sz="1400" b="1" dirty="0">
                <a:latin typeface="Times New Roman" panose="02020603050405020304" pitchFamily="18" charset="0"/>
                <a:cs typeface="Times New Roman" panose="02020603050405020304" pitchFamily="18" charset="0"/>
              </a:rPr>
              <a:t>Organizational Emphasis on Employee Well-being:</a:t>
            </a:r>
          </a:p>
          <a:p>
            <a:pPr marL="114300" indent="0">
              <a:buNone/>
            </a:pPr>
            <a:r>
              <a:rPr lang="en-GB" sz="1400" dirty="0">
                <a:latin typeface="Times New Roman" panose="02020603050405020304" pitchFamily="18" charset="0"/>
                <a:cs typeface="Times New Roman" panose="02020603050405020304" pitchFamily="18" charset="0"/>
              </a:rPr>
              <a:t>   - Posture monitoring gains traction.</a:t>
            </a:r>
          </a:p>
          <a:p>
            <a:pPr marL="114300" indent="0">
              <a:buNone/>
            </a:pPr>
            <a:r>
              <a:rPr lang="en-GB" sz="1400" dirty="0">
                <a:latin typeface="Times New Roman" panose="02020603050405020304" pitchFamily="18" charset="0"/>
                <a:cs typeface="Times New Roman" panose="02020603050405020304" pitchFamily="18" charset="0"/>
              </a:rPr>
              <a:t>   - Tech fosters health-aligned habits.</a:t>
            </a:r>
          </a:p>
        </p:txBody>
      </p:sp>
    </p:spTree>
    <p:extLst>
      <p:ext uri="{BB962C8B-B14F-4D97-AF65-F5344CB8AC3E}">
        <p14:creationId xmlns:p14="http://schemas.microsoft.com/office/powerpoint/2010/main" val="87844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29E66-6FBE-41D0-CE09-ECA2FB25CB89}"/>
              </a:ext>
            </a:extLst>
          </p:cNvPr>
          <p:cNvSpPr>
            <a:spLocks noGrp="1"/>
          </p:cNvSpPr>
          <p:nvPr>
            <p:ph type="title"/>
          </p:nvPr>
        </p:nvSpPr>
        <p:spPr>
          <a:xfrm>
            <a:off x="628650" y="276483"/>
            <a:ext cx="7886700" cy="994172"/>
          </a:xfrm>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5" name="Text Placeholder 4">
            <a:extLst>
              <a:ext uri="{FF2B5EF4-FFF2-40B4-BE49-F238E27FC236}">
                <a16:creationId xmlns:a16="http://schemas.microsoft.com/office/drawing/2014/main" id="{BEB07041-C1A6-1DAE-00ED-F97E59E6C292}"/>
              </a:ext>
            </a:extLst>
          </p:cNvPr>
          <p:cNvSpPr>
            <a:spLocks noGrp="1"/>
          </p:cNvSpPr>
          <p:nvPr>
            <p:ph type="body" idx="1"/>
          </p:nvPr>
        </p:nvSpPr>
        <p:spPr>
          <a:xfrm>
            <a:off x="457200" y="1270655"/>
            <a:ext cx="8229600" cy="5310861"/>
          </a:xfrm>
        </p:spPr>
        <p:txBody>
          <a:bodyPr>
            <a:normAutofit/>
          </a:bodyPr>
          <a:lstStyle/>
          <a:p>
            <a:pPr marL="114300" indent="0">
              <a:buNone/>
            </a:pPr>
            <a:r>
              <a:rPr lang="en-GB" sz="1400" dirty="0">
                <a:latin typeface="Times New Roman" panose="02020603050405020304" pitchFamily="18" charset="0"/>
                <a:cs typeface="Times New Roman" panose="02020603050405020304" pitchFamily="18" charset="0"/>
              </a:rPr>
              <a:t>6. </a:t>
            </a:r>
            <a:r>
              <a:rPr lang="en-GB" sz="1400" b="1" dirty="0">
                <a:latin typeface="Times New Roman" panose="02020603050405020304" pitchFamily="18" charset="0"/>
                <a:cs typeface="Times New Roman" panose="02020603050405020304" pitchFamily="18" charset="0"/>
              </a:rPr>
              <a:t>Role of Specialized Hardware:</a:t>
            </a:r>
          </a:p>
          <a:p>
            <a:pPr marL="114300" indent="0">
              <a:buNone/>
            </a:pPr>
            <a:r>
              <a:rPr lang="en-GB" sz="1400" dirty="0">
                <a:latin typeface="Times New Roman" panose="02020603050405020304" pitchFamily="18" charset="0"/>
                <a:cs typeface="Times New Roman" panose="02020603050405020304" pitchFamily="18" charset="0"/>
              </a:rPr>
              <a:t>   - Hardware crucial for processing.</a:t>
            </a:r>
          </a:p>
          <a:p>
            <a:pPr marL="114300" indent="0">
              <a:buNone/>
            </a:pPr>
            <a:r>
              <a:rPr lang="en-GB" sz="1400" dirty="0">
                <a:latin typeface="Times New Roman" panose="02020603050405020304" pitchFamily="18" charset="0"/>
                <a:cs typeface="Times New Roman" panose="02020603050405020304" pitchFamily="18" charset="0"/>
              </a:rPr>
              <a:t>   - Balancing accuracy, sustainability.</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7. </a:t>
            </a:r>
            <a:r>
              <a:rPr lang="en-GB" sz="1400" b="1" dirty="0">
                <a:latin typeface="Times New Roman" panose="02020603050405020304" pitchFamily="18" charset="0"/>
                <a:cs typeface="Times New Roman" panose="02020603050405020304" pitchFamily="18" charset="0"/>
              </a:rPr>
              <a:t>Validation through Rigorous Testing:</a:t>
            </a:r>
          </a:p>
          <a:p>
            <a:pPr marL="114300" indent="0">
              <a:buNone/>
            </a:pPr>
            <a:r>
              <a:rPr lang="en-GB" sz="1400" dirty="0">
                <a:latin typeface="Times New Roman" panose="02020603050405020304" pitchFamily="18" charset="0"/>
                <a:cs typeface="Times New Roman" panose="02020603050405020304" pitchFamily="18" charset="0"/>
              </a:rPr>
              <a:t>   - Tech needs real-world testing.</a:t>
            </a:r>
          </a:p>
          <a:p>
            <a:pPr marL="114300" indent="0">
              <a:buNone/>
            </a:pPr>
            <a:r>
              <a:rPr lang="en-GB" sz="1400" dirty="0">
                <a:latin typeface="Times New Roman" panose="02020603050405020304" pitchFamily="18" charset="0"/>
                <a:cs typeface="Times New Roman" panose="02020603050405020304" pitchFamily="18" charset="0"/>
              </a:rPr>
              <a:t>   - Validation crucial for systems.</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8. </a:t>
            </a:r>
            <a:r>
              <a:rPr lang="en-GB" sz="1400" b="1" dirty="0">
                <a:latin typeface="Times New Roman" panose="02020603050405020304" pitchFamily="18" charset="0"/>
                <a:cs typeface="Times New Roman" panose="02020603050405020304" pitchFamily="18" charset="0"/>
              </a:rPr>
              <a:t>User Acceptance and Integration:</a:t>
            </a:r>
          </a:p>
          <a:p>
            <a:pPr marL="114300" indent="0">
              <a:buNone/>
            </a:pPr>
            <a:r>
              <a:rPr lang="en-GB" sz="1400" dirty="0">
                <a:latin typeface="Times New Roman" panose="02020603050405020304" pitchFamily="18" charset="0"/>
                <a:cs typeface="Times New Roman" panose="02020603050405020304" pitchFamily="18" charset="0"/>
              </a:rPr>
              <a:t>   - User acceptance crucial.</a:t>
            </a:r>
          </a:p>
          <a:p>
            <a:pPr marL="114300" indent="0">
              <a:buNone/>
            </a:pPr>
            <a:r>
              <a:rPr lang="en-GB" sz="1400" dirty="0">
                <a:latin typeface="Times New Roman" panose="02020603050405020304" pitchFamily="18" charset="0"/>
                <a:cs typeface="Times New Roman" panose="02020603050405020304" pitchFamily="18" charset="0"/>
              </a:rPr>
              <a:t>   - User embrace vital.</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9. </a:t>
            </a:r>
            <a:r>
              <a:rPr lang="en-GB" sz="1400" b="1" dirty="0">
                <a:latin typeface="Times New Roman" panose="02020603050405020304" pitchFamily="18" charset="0"/>
                <a:cs typeface="Times New Roman" panose="02020603050405020304" pitchFamily="18" charset="0"/>
              </a:rPr>
              <a:t>Contributions to Occupational Health:</a:t>
            </a:r>
          </a:p>
          <a:p>
            <a:pPr marL="114300" indent="0">
              <a:buNone/>
            </a:pPr>
            <a:r>
              <a:rPr lang="en-GB" sz="1400" dirty="0">
                <a:latin typeface="Times New Roman" panose="02020603050405020304" pitchFamily="18" charset="0"/>
                <a:cs typeface="Times New Roman" panose="02020603050405020304" pitchFamily="18" charset="0"/>
              </a:rPr>
              <a:t>   - "Smart System" aids health.</a:t>
            </a:r>
          </a:p>
          <a:p>
            <a:pPr marL="114300" indent="0">
              <a:buNone/>
            </a:pPr>
            <a:r>
              <a:rPr lang="en-GB" sz="1400" dirty="0">
                <a:latin typeface="Times New Roman" panose="02020603050405020304" pitchFamily="18" charset="0"/>
                <a:cs typeface="Times New Roman" panose="02020603050405020304" pitchFamily="18" charset="0"/>
              </a:rPr>
              <a:t>   - Tech anticipates advancements.</a:t>
            </a:r>
            <a:endParaRPr lang="en-IN" sz="1400" dirty="0">
              <a:latin typeface="Times New Roman" panose="02020603050405020304" pitchFamily="18" charset="0"/>
              <a:cs typeface="Times New Roman" panose="02020603050405020304" pitchFamily="18" charset="0"/>
            </a:endParaRP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10. </a:t>
            </a:r>
            <a:r>
              <a:rPr lang="en-GB" sz="1400" b="1" dirty="0">
                <a:latin typeface="Times New Roman" panose="02020603050405020304" pitchFamily="18" charset="0"/>
                <a:cs typeface="Times New Roman" panose="02020603050405020304" pitchFamily="18" charset="0"/>
              </a:rPr>
              <a:t>Balancing Technological Prowess and Practicality:</a:t>
            </a:r>
          </a:p>
          <a:p>
            <a:pPr marL="114300" indent="0">
              <a:buNone/>
            </a:pPr>
            <a:r>
              <a:rPr lang="en-GB" sz="1400" dirty="0">
                <a:latin typeface="Times New Roman" panose="02020603050405020304" pitchFamily="18" charset="0"/>
                <a:cs typeface="Times New Roman" panose="02020603050405020304" pitchFamily="18" charset="0"/>
              </a:rPr>
              <a:t>    - Studies stress balanced approach.</a:t>
            </a:r>
          </a:p>
          <a:p>
            <a:pPr marL="114300" indent="0">
              <a:buNone/>
            </a:pPr>
            <a:r>
              <a:rPr lang="en-GB" sz="1400" dirty="0">
                <a:latin typeface="Times New Roman" panose="02020603050405020304" pitchFamily="18" charset="0"/>
                <a:cs typeface="Times New Roman" panose="02020603050405020304" pitchFamily="18" charset="0"/>
              </a:rPr>
              <a:t>    - Balance drives health innovation.</a:t>
            </a:r>
          </a:p>
          <a:p>
            <a:pPr marL="114300" indent="0">
              <a:buNone/>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3356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29E66-6FBE-41D0-CE09-ECA2FB25CB89}"/>
              </a:ext>
            </a:extLst>
          </p:cNvPr>
          <p:cNvSpPr>
            <a:spLocks noGrp="1"/>
          </p:cNvSpPr>
          <p:nvPr>
            <p:ph type="title"/>
          </p:nvPr>
        </p:nvSpPr>
        <p:spPr>
          <a:xfrm>
            <a:off x="628650" y="206381"/>
            <a:ext cx="7886700" cy="994172"/>
          </a:xfrm>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5" name="Text Placeholder 4">
            <a:extLst>
              <a:ext uri="{FF2B5EF4-FFF2-40B4-BE49-F238E27FC236}">
                <a16:creationId xmlns:a16="http://schemas.microsoft.com/office/drawing/2014/main" id="{00596BCD-C415-6EB9-1513-30F2AB697D14}"/>
              </a:ext>
            </a:extLst>
          </p:cNvPr>
          <p:cNvSpPr>
            <a:spLocks noGrp="1"/>
          </p:cNvSpPr>
          <p:nvPr>
            <p:ph type="body" idx="1"/>
          </p:nvPr>
        </p:nvSpPr>
        <p:spPr>
          <a:xfrm>
            <a:off x="457200" y="1396181"/>
            <a:ext cx="8229600" cy="5255437"/>
          </a:xfrm>
        </p:spPr>
        <p:txBody>
          <a:bodyPr>
            <a:normAutofit/>
          </a:bodyPr>
          <a:lstStyle/>
          <a:p>
            <a:pPr marL="114300" indent="0">
              <a:buNone/>
            </a:pPr>
            <a:r>
              <a:rPr lang="en-GB" sz="1400" dirty="0">
                <a:latin typeface="Times New Roman" panose="02020603050405020304" pitchFamily="18" charset="0"/>
                <a:cs typeface="Times New Roman" panose="02020603050405020304" pitchFamily="18" charset="0"/>
              </a:rPr>
              <a:t>11. </a:t>
            </a:r>
            <a:r>
              <a:rPr lang="en-GB" sz="1400" b="1" dirty="0">
                <a:latin typeface="Times New Roman" panose="02020603050405020304" pitchFamily="18" charset="0"/>
                <a:cs typeface="Times New Roman" panose="02020603050405020304" pitchFamily="18" charset="0"/>
              </a:rPr>
              <a:t>Dual-Functionality of Posture Monitoring Systems:</a:t>
            </a:r>
          </a:p>
          <a:p>
            <a:pPr marL="114300" indent="0">
              <a:buNone/>
            </a:pPr>
            <a:r>
              <a:rPr lang="en-GB" sz="1400" dirty="0">
                <a:latin typeface="Times New Roman" panose="02020603050405020304" pitchFamily="18" charset="0"/>
                <a:cs typeface="Times New Roman" panose="02020603050405020304" pitchFamily="18" charset="0"/>
              </a:rPr>
              <a:t>    - Specialized hardware, seamless operation.</a:t>
            </a:r>
          </a:p>
          <a:p>
            <a:pPr marL="114300" indent="0">
              <a:buNone/>
            </a:pPr>
            <a:r>
              <a:rPr lang="en-GB" sz="1400" dirty="0">
                <a:latin typeface="Times New Roman" panose="02020603050405020304" pitchFamily="18" charset="0"/>
                <a:cs typeface="Times New Roman" panose="02020603050405020304" pitchFamily="18" charset="0"/>
              </a:rPr>
              <a:t>    - Efficient, accurate, sustainable.</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12. </a:t>
            </a:r>
            <a:r>
              <a:rPr lang="en-GB" sz="1400" b="1" dirty="0">
                <a:latin typeface="Times New Roman" panose="02020603050405020304" pitchFamily="18" charset="0"/>
                <a:cs typeface="Times New Roman" panose="02020603050405020304" pitchFamily="18" charset="0"/>
              </a:rPr>
              <a:t>Comprehensive Approach to Workplace Ergonomics:</a:t>
            </a:r>
          </a:p>
          <a:p>
            <a:pPr marL="114300" indent="0">
              <a:buNone/>
            </a:pPr>
            <a:r>
              <a:rPr lang="en-GB" sz="1400" dirty="0">
                <a:latin typeface="Times New Roman" panose="02020603050405020304" pitchFamily="18" charset="0"/>
                <a:cs typeface="Times New Roman" panose="02020603050405020304" pitchFamily="18" charset="0"/>
              </a:rPr>
              <a:t>    - Advance insights, action-focused.</a:t>
            </a:r>
          </a:p>
          <a:p>
            <a:pPr marL="114300" indent="0">
              <a:buNone/>
            </a:pPr>
            <a:r>
              <a:rPr lang="en-GB" sz="1400" dirty="0">
                <a:latin typeface="Times New Roman" panose="02020603050405020304" pitchFamily="18" charset="0"/>
                <a:cs typeface="Times New Roman" panose="02020603050405020304" pitchFamily="18" charset="0"/>
              </a:rPr>
              <a:t>    - Modern workplaces prioritize well-being.</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13. </a:t>
            </a:r>
            <a:r>
              <a:rPr lang="en-GB" sz="1400" b="1" dirty="0">
                <a:latin typeface="Times New Roman" panose="02020603050405020304" pitchFamily="18" charset="0"/>
                <a:cs typeface="Times New Roman" panose="02020603050405020304" pitchFamily="18" charset="0"/>
              </a:rPr>
              <a:t>Future Research Considerations:</a:t>
            </a:r>
          </a:p>
          <a:p>
            <a:pPr marL="114300" indent="0">
              <a:buNone/>
            </a:pPr>
            <a:r>
              <a:rPr lang="en-GB" sz="1400" dirty="0">
                <a:latin typeface="Times New Roman" panose="02020603050405020304" pitchFamily="18" charset="0"/>
                <a:cs typeface="Times New Roman" panose="02020603050405020304" pitchFamily="18" charset="0"/>
              </a:rPr>
              <a:t>    - Review reveals research gaps.</a:t>
            </a:r>
          </a:p>
          <a:p>
            <a:pPr marL="114300" indent="0">
              <a:buNone/>
            </a:pPr>
            <a:r>
              <a:rPr lang="en-GB" sz="1400" dirty="0">
                <a:latin typeface="Times New Roman" panose="02020603050405020304" pitchFamily="18" charset="0"/>
                <a:cs typeface="Times New Roman" panose="02020603050405020304" pitchFamily="18" charset="0"/>
              </a:rPr>
              <a:t>    - Roadmap for smart system.</a:t>
            </a:r>
          </a:p>
          <a:p>
            <a:pPr marL="114300" indent="0">
              <a:buNone/>
            </a:pPr>
            <a:endParaRPr lang="en-GB" sz="1400" dirty="0">
              <a:latin typeface="Times New Roman" panose="02020603050405020304" pitchFamily="18" charset="0"/>
              <a:cs typeface="Times New Roman" panose="02020603050405020304" pitchFamily="18" charset="0"/>
            </a:endParaRPr>
          </a:p>
          <a:p>
            <a:pPr marL="114300" indent="0">
              <a:buNone/>
            </a:pPr>
            <a:r>
              <a:rPr lang="en-GB" sz="1400" dirty="0">
                <a:latin typeface="Times New Roman" panose="02020603050405020304" pitchFamily="18" charset="0"/>
                <a:cs typeface="Times New Roman" panose="02020603050405020304" pitchFamily="18" charset="0"/>
              </a:rPr>
              <a:t>14. </a:t>
            </a:r>
            <a:r>
              <a:rPr lang="en-GB" sz="1400" b="1" dirty="0">
                <a:latin typeface="Times New Roman" panose="02020603050405020304" pitchFamily="18" charset="0"/>
                <a:cs typeface="Times New Roman" panose="02020603050405020304" pitchFamily="18" charset="0"/>
              </a:rPr>
              <a:t>Envisioning Advancements through Camera-Based Technologies:</a:t>
            </a:r>
          </a:p>
          <a:p>
            <a:pPr marL="114300" indent="0">
              <a:buNone/>
            </a:pPr>
            <a:r>
              <a:rPr lang="en-GB" sz="1400" dirty="0">
                <a:latin typeface="Times New Roman" panose="02020603050405020304" pitchFamily="18" charset="0"/>
                <a:cs typeface="Times New Roman" panose="02020603050405020304" pitchFamily="18" charset="0"/>
              </a:rPr>
              <a:t>    - Review spurs tech integration.</a:t>
            </a:r>
          </a:p>
          <a:p>
            <a:pPr marL="114300" indent="0">
              <a:buNone/>
            </a:pPr>
            <a:r>
              <a:rPr lang="en-GB" sz="1400" dirty="0">
                <a:latin typeface="Times New Roman" panose="02020603050405020304" pitchFamily="18" charset="0"/>
                <a:cs typeface="Times New Roman" panose="02020603050405020304" pitchFamily="18" charset="0"/>
              </a:rPr>
              <a:t>    - Posture tech evolves.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3894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307690"/>
            <a:ext cx="8229600" cy="5048660"/>
          </a:xfrm>
          <a:prstGeom prst="rect">
            <a:avLst/>
          </a:prstGeom>
          <a:noFill/>
          <a:ln>
            <a:noFill/>
          </a:ln>
        </p:spPr>
        <p:txBody>
          <a:bodyPr spcFirstLastPara="1" wrap="square" lIns="91425" tIns="45700" rIns="91425" bIns="45700" anchor="t" anchorCtr="0">
            <a:normAutofit/>
          </a:bodyPr>
          <a:lstStyle/>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1. </a:t>
            </a:r>
            <a:r>
              <a:rPr lang="en-GB" sz="1400" b="1" i="0" dirty="0">
                <a:solidFill>
                  <a:schemeClr val="tx1"/>
                </a:solidFill>
                <a:effectLst/>
                <a:latin typeface="Times New Roman" panose="02020603050405020304" pitchFamily="18" charset="0"/>
                <a:cs typeface="Times New Roman" panose="02020603050405020304" pitchFamily="18" charset="0"/>
              </a:rPr>
              <a:t>Ergonomic Setup Variability:</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Telecommuters' diverse setups challenge.</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2. </a:t>
            </a:r>
            <a:r>
              <a:rPr lang="en-GB" sz="1400" b="1" i="0" dirty="0">
                <a:solidFill>
                  <a:schemeClr val="tx1"/>
                </a:solidFill>
                <a:effectLst/>
                <a:latin typeface="Times New Roman" panose="02020603050405020304" pitchFamily="18" charset="0"/>
                <a:cs typeface="Times New Roman" panose="02020603050405020304" pitchFamily="18" charset="0"/>
              </a:rPr>
              <a:t>Limited Physical Interaction:</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Telecommuters' diverse setups challenge.</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3. </a:t>
            </a:r>
            <a:r>
              <a:rPr lang="en-GB" sz="1400" b="1" i="0" dirty="0">
                <a:solidFill>
                  <a:schemeClr val="tx1"/>
                </a:solidFill>
                <a:effectLst/>
                <a:latin typeface="Times New Roman" panose="02020603050405020304" pitchFamily="18" charset="0"/>
                <a:cs typeface="Times New Roman" panose="02020603050405020304" pitchFamily="18" charset="0"/>
              </a:rPr>
              <a:t>User Compliance and Engagement:</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System lacks posture correction.</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4. </a:t>
            </a:r>
            <a:r>
              <a:rPr lang="en-GB" sz="1400" b="1" i="0" dirty="0">
                <a:solidFill>
                  <a:schemeClr val="tx1"/>
                </a:solidFill>
                <a:effectLst/>
                <a:latin typeface="Times New Roman" panose="02020603050405020304" pitchFamily="18" charset="0"/>
                <a:cs typeface="Times New Roman" panose="02020603050405020304" pitchFamily="18" charset="0"/>
              </a:rPr>
              <a:t>Privacy Concerns: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Video monitoring privacy concerns.</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5. </a:t>
            </a:r>
            <a:r>
              <a:rPr lang="en-GB" sz="1400" b="1" i="0" dirty="0">
                <a:solidFill>
                  <a:schemeClr val="tx1"/>
                </a:solidFill>
                <a:effectLst/>
                <a:latin typeface="Times New Roman" panose="02020603050405020304" pitchFamily="18" charset="0"/>
                <a:cs typeface="Times New Roman" panose="02020603050405020304" pitchFamily="18" charset="0"/>
              </a:rPr>
              <a:t>System Calibration for Diverse Users: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Custom calibration vital.</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6. </a:t>
            </a:r>
            <a:r>
              <a:rPr lang="en-GB" sz="1400" b="1" i="0" dirty="0">
                <a:solidFill>
                  <a:schemeClr val="tx1"/>
                </a:solidFill>
                <a:effectLst/>
                <a:latin typeface="Times New Roman" panose="02020603050405020304" pitchFamily="18" charset="0"/>
                <a:cs typeface="Times New Roman" panose="02020603050405020304" pitchFamily="18" charset="0"/>
              </a:rPr>
              <a:t>Hardware Accessibility and Cost:</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Hardware limits adoption.</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lang="en-US" dirty="0"/>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3" name="TextBox 2">
            <a:extLst>
              <a:ext uri="{FF2B5EF4-FFF2-40B4-BE49-F238E27FC236}">
                <a16:creationId xmlns:a16="http://schemas.microsoft.com/office/drawing/2014/main" id="{013A3E26-8A73-B60F-6201-EDEF2314AA9C}"/>
              </a:ext>
            </a:extLst>
          </p:cNvPr>
          <p:cNvSpPr txBox="1"/>
          <p:nvPr/>
        </p:nvSpPr>
        <p:spPr>
          <a:xfrm>
            <a:off x="3286897" y="571951"/>
            <a:ext cx="4700326"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Challenges and Limitations</a:t>
            </a:r>
            <a:endParaRPr lang="en-US" sz="1600" dirty="0"/>
          </a:p>
        </p:txBody>
      </p:sp>
    </p:spTree>
    <p:extLst>
      <p:ext uri="{BB962C8B-B14F-4D97-AF65-F5344CB8AC3E}">
        <p14:creationId xmlns:p14="http://schemas.microsoft.com/office/powerpoint/2010/main" val="374822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327355"/>
            <a:ext cx="8229600" cy="5073445"/>
          </a:xfrm>
          <a:prstGeom prst="rect">
            <a:avLst/>
          </a:prstGeom>
          <a:noFill/>
          <a:ln>
            <a:noFill/>
          </a:ln>
        </p:spPr>
        <p:txBody>
          <a:bodyPr spcFirstLastPara="1" wrap="square" lIns="91425" tIns="45700" rIns="91425" bIns="45700" anchor="t" anchorCtr="0">
            <a:normAutofit/>
          </a:bodyPr>
          <a:lstStyle/>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7. </a:t>
            </a:r>
            <a:r>
              <a:rPr lang="en-GB" sz="1400" b="1" i="0" dirty="0">
                <a:solidFill>
                  <a:schemeClr val="tx1"/>
                </a:solidFill>
                <a:effectLst/>
                <a:latin typeface="Times New Roman" panose="02020603050405020304" pitchFamily="18" charset="0"/>
                <a:cs typeface="Times New Roman" panose="02020603050405020304" pitchFamily="18" charset="0"/>
              </a:rPr>
              <a:t>Technical Expertise Requirement:</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Tech setup expertise needed.</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8. </a:t>
            </a:r>
            <a:r>
              <a:rPr lang="en-GB" sz="1400" b="1" i="0" dirty="0">
                <a:solidFill>
                  <a:schemeClr val="tx1"/>
                </a:solidFill>
                <a:effectLst/>
                <a:latin typeface="Times New Roman" panose="02020603050405020304" pitchFamily="18" charset="0"/>
                <a:cs typeface="Times New Roman" panose="02020603050405020304" pitchFamily="18" charset="0"/>
              </a:rPr>
              <a:t>Potential for False Positives/Negatives: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Accuracy exceeds 80%.</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9. </a:t>
            </a:r>
            <a:r>
              <a:rPr lang="en-GB" sz="1400" b="1" i="0" dirty="0">
                <a:solidFill>
                  <a:schemeClr val="tx1"/>
                </a:solidFill>
                <a:effectLst/>
                <a:latin typeface="Times New Roman" panose="02020603050405020304" pitchFamily="18" charset="0"/>
                <a:cs typeface="Times New Roman" panose="02020603050405020304" pitchFamily="18" charset="0"/>
              </a:rPr>
              <a:t>Adaptability to Dynamic Work Environments: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Dynamic work poses challenges.</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10. </a:t>
            </a:r>
            <a:r>
              <a:rPr lang="en-GB" sz="1400" b="1" i="0" dirty="0">
                <a:solidFill>
                  <a:schemeClr val="tx1"/>
                </a:solidFill>
                <a:effectLst/>
                <a:latin typeface="Times New Roman" panose="02020603050405020304" pitchFamily="18" charset="0"/>
                <a:cs typeface="Times New Roman" panose="02020603050405020304" pitchFamily="18" charset="0"/>
              </a:rPr>
              <a:t>Network and Connectivity Issues: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Stable network crucial.</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11. </a:t>
            </a:r>
            <a:r>
              <a:rPr lang="en-GB" sz="1400" b="1" i="0" dirty="0">
                <a:solidFill>
                  <a:schemeClr val="tx1"/>
                </a:solidFill>
                <a:effectLst/>
                <a:latin typeface="Times New Roman" panose="02020603050405020304" pitchFamily="18" charset="0"/>
                <a:cs typeface="Times New Roman" panose="02020603050405020304" pitchFamily="18" charset="0"/>
              </a:rPr>
              <a:t>Long-term Health Impact Assessment:</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Study lacks long-term data.</a:t>
            </a:r>
            <a:endParaRPr lang="en-IN"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endParaRPr lang="en-IN" sz="1400" i="0" dirty="0">
              <a:solidFill>
                <a:schemeClr val="tx1"/>
              </a:solidFill>
              <a:effectLst/>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lang="en-US" dirty="0"/>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3" name="TextBox 2">
            <a:extLst>
              <a:ext uri="{FF2B5EF4-FFF2-40B4-BE49-F238E27FC236}">
                <a16:creationId xmlns:a16="http://schemas.microsoft.com/office/drawing/2014/main" id="{013A3E26-8A73-B60F-6201-EDEF2314AA9C}"/>
              </a:ext>
            </a:extLst>
          </p:cNvPr>
          <p:cNvSpPr txBox="1"/>
          <p:nvPr/>
        </p:nvSpPr>
        <p:spPr>
          <a:xfrm>
            <a:off x="3286897" y="571951"/>
            <a:ext cx="4126451"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Challenges and Limitations</a:t>
            </a:r>
            <a:endParaRPr lang="en-US" dirty="0"/>
          </a:p>
        </p:txBody>
      </p:sp>
    </p:spTree>
    <p:extLst>
      <p:ext uri="{BB962C8B-B14F-4D97-AF65-F5344CB8AC3E}">
        <p14:creationId xmlns:p14="http://schemas.microsoft.com/office/powerpoint/2010/main" val="233991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337187"/>
            <a:ext cx="8229600" cy="5063613"/>
          </a:xfrm>
          <a:prstGeom prst="rect">
            <a:avLst/>
          </a:prstGeom>
          <a:noFill/>
          <a:ln>
            <a:noFill/>
          </a:ln>
        </p:spPr>
        <p:txBody>
          <a:bodyPr spcFirstLastPara="1" wrap="square" lIns="91425" tIns="45700" rIns="91425" bIns="45700" anchor="t" anchorCtr="0">
            <a:noAutofit/>
          </a:bodyPr>
          <a:lstStyle/>
          <a:p>
            <a:pPr marL="114300" indent="0">
              <a:buNone/>
            </a:pPr>
            <a:r>
              <a:rPr lang="en-GB" sz="1500" dirty="0">
                <a:solidFill>
                  <a:srgbClr val="000000"/>
                </a:solidFill>
                <a:effectLst/>
                <a:latin typeface="Times New Roman" panose="02020603050405020304" pitchFamily="18" charset="0"/>
              </a:rPr>
              <a:t>1. </a:t>
            </a:r>
            <a:r>
              <a:rPr lang="en-GB" sz="1500" b="1" dirty="0">
                <a:solidFill>
                  <a:srgbClr val="000000"/>
                </a:solidFill>
                <a:effectLst/>
                <a:latin typeface="Times New Roman" panose="02020603050405020304" pitchFamily="18" charset="0"/>
              </a:rPr>
              <a:t>Develop an Automated Posture Detection System:</a:t>
            </a:r>
          </a:p>
          <a:p>
            <a:pPr marL="114300" indent="0">
              <a:buNone/>
            </a:pPr>
            <a:r>
              <a:rPr lang="en-GB" sz="1500" dirty="0">
                <a:solidFill>
                  <a:srgbClr val="000000"/>
                </a:solidFill>
                <a:effectLst/>
                <a:latin typeface="Times New Roman" panose="02020603050405020304" pitchFamily="18" charset="0"/>
              </a:rPr>
              <a:t>   - Automated posture analysis system.</a:t>
            </a:r>
          </a:p>
          <a:p>
            <a:pPr marL="114300" indent="0">
              <a:buNone/>
            </a:pPr>
            <a:endParaRPr lang="en-GB" sz="1500" dirty="0">
              <a:solidFill>
                <a:srgbClr val="000000"/>
              </a:solidFill>
              <a:effectLst/>
              <a:latin typeface="Times New Roman" panose="02020603050405020304" pitchFamily="18" charset="0"/>
            </a:endParaRPr>
          </a:p>
          <a:p>
            <a:pPr marL="114300" indent="0">
              <a:buNone/>
            </a:pPr>
            <a:r>
              <a:rPr lang="en-GB" sz="1500" dirty="0">
                <a:solidFill>
                  <a:srgbClr val="000000"/>
                </a:solidFill>
                <a:effectLst/>
                <a:latin typeface="Times New Roman" panose="02020603050405020304" pitchFamily="18" charset="0"/>
              </a:rPr>
              <a:t>2. </a:t>
            </a:r>
            <a:r>
              <a:rPr lang="en-GB" sz="1500" b="1" dirty="0">
                <a:solidFill>
                  <a:srgbClr val="000000"/>
                </a:solidFill>
                <a:effectLst/>
                <a:latin typeface="Times New Roman" panose="02020603050405020304" pitchFamily="18" charset="0"/>
              </a:rPr>
              <a:t>Address Ergonomic Challenges in Telecommuting:</a:t>
            </a:r>
          </a:p>
          <a:p>
            <a:pPr marL="114300" indent="0">
              <a:buNone/>
            </a:pPr>
            <a:r>
              <a:rPr lang="en-GB" sz="1500" dirty="0">
                <a:solidFill>
                  <a:srgbClr val="000000"/>
                </a:solidFill>
                <a:effectLst/>
                <a:latin typeface="Times New Roman" panose="02020603050405020304" pitchFamily="18" charset="0"/>
              </a:rPr>
              <a:t>   - Home ergonomics support.</a:t>
            </a:r>
          </a:p>
          <a:p>
            <a:pPr marL="114300" indent="0">
              <a:buNone/>
            </a:pPr>
            <a:endParaRPr lang="en-GB" sz="1500" dirty="0">
              <a:solidFill>
                <a:srgbClr val="000000"/>
              </a:solidFill>
              <a:effectLst/>
              <a:latin typeface="Times New Roman" panose="02020603050405020304" pitchFamily="18" charset="0"/>
            </a:endParaRPr>
          </a:p>
          <a:p>
            <a:pPr marL="114300" indent="0">
              <a:buNone/>
            </a:pPr>
            <a:r>
              <a:rPr lang="en-GB" sz="1500" dirty="0">
                <a:solidFill>
                  <a:srgbClr val="000000"/>
                </a:solidFill>
                <a:effectLst/>
                <a:latin typeface="Times New Roman" panose="02020603050405020304" pitchFamily="18" charset="0"/>
              </a:rPr>
              <a:t>3. </a:t>
            </a:r>
            <a:r>
              <a:rPr lang="en-GB" sz="1500" b="1" dirty="0">
                <a:solidFill>
                  <a:srgbClr val="000000"/>
                </a:solidFill>
                <a:effectLst/>
                <a:latin typeface="Times New Roman" panose="02020603050405020304" pitchFamily="18" charset="0"/>
              </a:rPr>
              <a:t>Quantify Incorrect Posture Levels:</a:t>
            </a:r>
          </a:p>
          <a:p>
            <a:pPr marL="114300" indent="0">
              <a:buNone/>
            </a:pPr>
            <a:r>
              <a:rPr lang="en-GB" sz="1500" dirty="0">
                <a:solidFill>
                  <a:srgbClr val="000000"/>
                </a:solidFill>
                <a:effectLst/>
                <a:latin typeface="Times New Roman" panose="02020603050405020304" pitchFamily="18" charset="0"/>
              </a:rPr>
              <a:t>   - Quantify posture, prevent issues.</a:t>
            </a:r>
          </a:p>
          <a:p>
            <a:pPr marL="114300" indent="0">
              <a:buNone/>
            </a:pPr>
            <a:endParaRPr lang="en-GB" sz="1500" dirty="0">
              <a:solidFill>
                <a:srgbClr val="000000"/>
              </a:solidFill>
              <a:effectLst/>
              <a:latin typeface="Times New Roman" panose="02020603050405020304" pitchFamily="18" charset="0"/>
            </a:endParaRPr>
          </a:p>
          <a:p>
            <a:pPr marL="114300" indent="0">
              <a:buNone/>
            </a:pPr>
            <a:r>
              <a:rPr lang="en-GB" sz="1500" dirty="0">
                <a:solidFill>
                  <a:srgbClr val="000000"/>
                </a:solidFill>
                <a:effectLst/>
                <a:latin typeface="Times New Roman" panose="02020603050405020304" pitchFamily="18" charset="0"/>
              </a:rPr>
              <a:t>4. </a:t>
            </a:r>
            <a:r>
              <a:rPr lang="en-GB" sz="1500" b="1" dirty="0">
                <a:solidFill>
                  <a:srgbClr val="000000"/>
                </a:solidFill>
                <a:effectLst/>
                <a:latin typeface="Times New Roman" panose="02020603050405020304" pitchFamily="18" charset="0"/>
              </a:rPr>
              <a:t>Utilize Convolutional Neural Networks (CNNs):</a:t>
            </a:r>
          </a:p>
          <a:p>
            <a:pPr marL="114300" indent="0">
              <a:buNone/>
            </a:pPr>
            <a:r>
              <a:rPr lang="en-GB" sz="1500" dirty="0">
                <a:solidFill>
                  <a:srgbClr val="000000"/>
                </a:solidFill>
                <a:effectLst/>
                <a:latin typeface="Times New Roman" panose="02020603050405020304" pitchFamily="18" charset="0"/>
              </a:rPr>
              <a:t>   - Hardware IDs posture efficiently.</a:t>
            </a:r>
          </a:p>
          <a:p>
            <a:pPr marL="114300" indent="0">
              <a:buNone/>
            </a:pPr>
            <a:endParaRPr lang="en-GB" sz="1500" dirty="0">
              <a:solidFill>
                <a:srgbClr val="000000"/>
              </a:solidFill>
              <a:effectLst/>
              <a:latin typeface="Times New Roman" panose="02020603050405020304" pitchFamily="18" charset="0"/>
            </a:endParaRPr>
          </a:p>
          <a:p>
            <a:pPr marL="114300" indent="0">
              <a:buNone/>
            </a:pPr>
            <a:r>
              <a:rPr lang="en-GB" sz="1500" dirty="0">
                <a:solidFill>
                  <a:srgbClr val="000000"/>
                </a:solidFill>
                <a:effectLst/>
                <a:latin typeface="Times New Roman" panose="02020603050405020304" pitchFamily="18" charset="0"/>
              </a:rPr>
              <a:t>5. </a:t>
            </a:r>
            <a:r>
              <a:rPr lang="en-GB" sz="1500" b="1" dirty="0">
                <a:solidFill>
                  <a:srgbClr val="000000"/>
                </a:solidFill>
                <a:effectLst/>
                <a:latin typeface="Times New Roman" panose="02020603050405020304" pitchFamily="18" charset="0"/>
              </a:rPr>
              <a:t>Offer Recommendations for Posture Improvement:</a:t>
            </a:r>
          </a:p>
          <a:p>
            <a:pPr marL="114300" indent="0">
              <a:buNone/>
            </a:pPr>
            <a:r>
              <a:rPr lang="en-GB" sz="1500" dirty="0">
                <a:solidFill>
                  <a:srgbClr val="000000"/>
                </a:solidFill>
                <a:effectLst/>
                <a:latin typeface="Times New Roman" panose="02020603050405020304" pitchFamily="18" charset="0"/>
              </a:rPr>
              <a:t>   - Prevent health issues.</a:t>
            </a:r>
          </a:p>
          <a:p>
            <a:pPr marL="114300" indent="0">
              <a:buNone/>
            </a:pPr>
            <a:endParaRPr lang="en-GB" sz="1500" dirty="0">
              <a:solidFill>
                <a:srgbClr val="000000"/>
              </a:solidFill>
              <a:effectLst/>
              <a:latin typeface="Times New Roman" panose="02020603050405020304" pitchFamily="18" charset="0"/>
            </a:endParaRPr>
          </a:p>
          <a:p>
            <a:pPr marL="114300" indent="0">
              <a:buNone/>
            </a:pPr>
            <a:r>
              <a:rPr lang="en-GB" sz="1600" dirty="0">
                <a:solidFill>
                  <a:srgbClr val="000000"/>
                </a:solidFill>
                <a:effectLst/>
                <a:latin typeface="Times New Roman" panose="02020603050405020304" pitchFamily="18" charset="0"/>
              </a:rPr>
              <a:t>6. </a:t>
            </a:r>
            <a:r>
              <a:rPr lang="en-GB" sz="1600" b="1" dirty="0">
                <a:solidFill>
                  <a:srgbClr val="000000"/>
                </a:solidFill>
                <a:effectLst/>
                <a:latin typeface="Times New Roman" panose="02020603050405020304" pitchFamily="18" charset="0"/>
              </a:rPr>
              <a:t>Ensure Real-Time Video Processing:</a:t>
            </a:r>
          </a:p>
          <a:p>
            <a:pPr marL="114300" indent="0">
              <a:buNone/>
            </a:pPr>
            <a:r>
              <a:rPr lang="en-GB" sz="1600" dirty="0">
                <a:solidFill>
                  <a:srgbClr val="000000"/>
                </a:solidFill>
                <a:effectLst/>
                <a:latin typeface="Times New Roman" panose="02020603050405020304" pitchFamily="18" charset="0"/>
              </a:rPr>
              <a:t>   - Real-time video processing: 25fps.</a:t>
            </a:r>
            <a:endParaRPr lang="en-GB" sz="1500" dirty="0">
              <a:solidFill>
                <a:srgbClr val="000000"/>
              </a:solidFill>
              <a:effectLst/>
              <a:latin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lang="en-US" dirty="0"/>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3" name="TextBox 2">
            <a:extLst>
              <a:ext uri="{FF2B5EF4-FFF2-40B4-BE49-F238E27FC236}">
                <a16:creationId xmlns:a16="http://schemas.microsoft.com/office/drawing/2014/main" id="{013A3E26-8A73-B60F-6201-EDEF2314AA9C}"/>
              </a:ext>
            </a:extLst>
          </p:cNvPr>
          <p:cNvSpPr txBox="1"/>
          <p:nvPr/>
        </p:nvSpPr>
        <p:spPr>
          <a:xfrm>
            <a:off x="2882806" y="441469"/>
            <a:ext cx="4737194" cy="646331"/>
          </a:xfrm>
          <a:prstGeom prst="rect">
            <a:avLst/>
          </a:prstGeom>
          <a:noFill/>
        </p:spPr>
        <p:txBody>
          <a:bodyPr wrap="none" rtlCol="0">
            <a:spAutoFit/>
          </a:bodyPr>
          <a:lstStyle/>
          <a:p>
            <a:r>
              <a:rPr lang="en-IN" sz="3600" dirty="0">
                <a:solidFill>
                  <a:srgbClr val="000000"/>
                </a:solidFill>
                <a:effectLst/>
                <a:latin typeface="Times New Roman" panose="02020603050405020304" pitchFamily="18" charset="0"/>
              </a:rPr>
              <a:t>Objectives of the project</a:t>
            </a:r>
          </a:p>
        </p:txBody>
      </p:sp>
    </p:spTree>
    <p:extLst>
      <p:ext uri="{BB962C8B-B14F-4D97-AF65-F5344CB8AC3E}">
        <p14:creationId xmlns:p14="http://schemas.microsoft.com/office/powerpoint/2010/main" val="2172533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FBD68F0E-F70E-2343-21FB-EEEA164EFB17}"/>
            </a:ext>
          </a:extLst>
        </p:cNvPr>
        <p:cNvGrpSpPr/>
        <p:nvPr/>
      </p:nvGrpSpPr>
      <p:grpSpPr>
        <a:xfrm>
          <a:off x="0" y="0"/>
          <a:ext cx="0" cy="0"/>
          <a:chOff x="0" y="0"/>
          <a:chExt cx="0" cy="0"/>
        </a:xfrm>
      </p:grpSpPr>
      <p:sp>
        <p:nvSpPr>
          <p:cNvPr id="106" name="Google Shape;106;p5">
            <a:extLst>
              <a:ext uri="{FF2B5EF4-FFF2-40B4-BE49-F238E27FC236}">
                <a16:creationId xmlns:a16="http://schemas.microsoft.com/office/drawing/2014/main" id="{1EDBA327-ACB8-5C2C-A11D-F219E39ACA56}"/>
              </a:ext>
            </a:extLst>
          </p:cNvPr>
          <p:cNvSpPr txBox="1">
            <a:spLocks noGrp="1"/>
          </p:cNvSpPr>
          <p:nvPr>
            <p:ph type="body" idx="1"/>
          </p:nvPr>
        </p:nvSpPr>
        <p:spPr>
          <a:xfrm>
            <a:off x="457200" y="1376516"/>
            <a:ext cx="8229600" cy="4979834"/>
          </a:xfrm>
          <a:prstGeom prst="rect">
            <a:avLst/>
          </a:prstGeom>
          <a:noFill/>
          <a:ln>
            <a:noFill/>
          </a:ln>
        </p:spPr>
        <p:txBody>
          <a:bodyPr spcFirstLastPara="1" wrap="square" lIns="91425" tIns="45700" rIns="91425" bIns="45700" anchor="t" anchorCtr="0">
            <a:normAutofit/>
          </a:bodyPr>
          <a:lstStyle/>
          <a:p>
            <a:pPr marL="114300" indent="0">
              <a:buNone/>
            </a:pPr>
            <a:r>
              <a:rPr lang="en-GB" sz="1700" dirty="0">
                <a:solidFill>
                  <a:srgbClr val="000000"/>
                </a:solidFill>
                <a:effectLst/>
                <a:latin typeface="Times New Roman" panose="02020603050405020304" pitchFamily="18" charset="0"/>
              </a:rPr>
              <a:t>7. </a:t>
            </a:r>
            <a:r>
              <a:rPr lang="en-GB" sz="1700" b="1" dirty="0">
                <a:solidFill>
                  <a:srgbClr val="000000"/>
                </a:solidFill>
                <a:effectLst/>
                <a:latin typeface="Times New Roman" panose="02020603050405020304" pitchFamily="18" charset="0"/>
              </a:rPr>
              <a:t>Minimize Power Consumption:</a:t>
            </a:r>
          </a:p>
          <a:p>
            <a:pPr marL="114300" indent="0">
              <a:buNone/>
            </a:pPr>
            <a:r>
              <a:rPr lang="en-GB" sz="1700" dirty="0">
                <a:solidFill>
                  <a:srgbClr val="000000"/>
                </a:solidFill>
                <a:effectLst/>
                <a:latin typeface="Times New Roman" panose="02020603050405020304" pitchFamily="18" charset="0"/>
              </a:rPr>
              <a:t>   - Design for low consumption.</a:t>
            </a:r>
          </a:p>
          <a:p>
            <a:pPr marL="114300" indent="0">
              <a:buNone/>
            </a:pPr>
            <a:endParaRPr lang="en-GB" sz="1700" dirty="0">
              <a:solidFill>
                <a:srgbClr val="000000"/>
              </a:solidFill>
              <a:effectLst/>
              <a:latin typeface="Times New Roman" panose="02020603050405020304" pitchFamily="18" charset="0"/>
            </a:endParaRPr>
          </a:p>
          <a:p>
            <a:pPr marL="114300" indent="0">
              <a:buNone/>
            </a:pPr>
            <a:r>
              <a:rPr lang="en-GB" sz="1700" dirty="0">
                <a:solidFill>
                  <a:srgbClr val="000000"/>
                </a:solidFill>
                <a:effectLst/>
                <a:latin typeface="Times New Roman" panose="02020603050405020304" pitchFamily="18" charset="0"/>
              </a:rPr>
              <a:t>8. </a:t>
            </a:r>
            <a:r>
              <a:rPr lang="en-GB" sz="1700" b="1" dirty="0">
                <a:solidFill>
                  <a:srgbClr val="000000"/>
                </a:solidFill>
                <a:effectLst/>
                <a:latin typeface="Times New Roman" panose="02020603050405020304" pitchFamily="18" charset="0"/>
              </a:rPr>
              <a:t>Achieve High Accuracy in Posture Detection:</a:t>
            </a:r>
          </a:p>
          <a:p>
            <a:pPr marL="114300" indent="0">
              <a:buNone/>
            </a:pPr>
            <a:r>
              <a:rPr lang="en-GB" sz="1700" dirty="0">
                <a:solidFill>
                  <a:srgbClr val="000000"/>
                </a:solidFill>
                <a:effectLst/>
                <a:latin typeface="Times New Roman" panose="02020603050405020304" pitchFamily="18" charset="0"/>
              </a:rPr>
              <a:t>   - Test for 85% accuracy.</a:t>
            </a:r>
          </a:p>
          <a:p>
            <a:pPr marL="114300" indent="0">
              <a:buNone/>
            </a:pPr>
            <a:endParaRPr lang="en-GB" sz="1700" dirty="0">
              <a:solidFill>
                <a:srgbClr val="000000"/>
              </a:solidFill>
              <a:effectLst/>
              <a:latin typeface="Times New Roman" panose="02020603050405020304" pitchFamily="18" charset="0"/>
            </a:endParaRPr>
          </a:p>
          <a:p>
            <a:pPr marL="114300" indent="0">
              <a:buNone/>
            </a:pPr>
            <a:r>
              <a:rPr lang="en-GB" sz="1700" dirty="0">
                <a:solidFill>
                  <a:srgbClr val="000000"/>
                </a:solidFill>
                <a:effectLst/>
                <a:latin typeface="Times New Roman" panose="02020603050405020304" pitchFamily="18" charset="0"/>
              </a:rPr>
              <a:t>9. </a:t>
            </a:r>
            <a:r>
              <a:rPr lang="en-GB" sz="1700" b="1" dirty="0">
                <a:solidFill>
                  <a:srgbClr val="000000"/>
                </a:solidFill>
                <a:effectLst/>
                <a:latin typeface="Times New Roman" panose="02020603050405020304" pitchFamily="18" charset="0"/>
              </a:rPr>
              <a:t>Contribute to Occupational Risk Prevention:</a:t>
            </a:r>
          </a:p>
          <a:p>
            <a:pPr marL="114300" indent="0">
              <a:buNone/>
            </a:pPr>
            <a:r>
              <a:rPr lang="en-GB" sz="1700" dirty="0">
                <a:solidFill>
                  <a:srgbClr val="000000"/>
                </a:solidFill>
                <a:effectLst/>
                <a:latin typeface="Times New Roman" panose="02020603050405020304" pitchFamily="18" charset="0"/>
              </a:rPr>
              <a:t>   - Telecommute health tool.</a:t>
            </a:r>
          </a:p>
          <a:p>
            <a:pPr marL="114300" indent="0">
              <a:buNone/>
            </a:pPr>
            <a:endParaRPr lang="en-GB" sz="1700" dirty="0">
              <a:solidFill>
                <a:srgbClr val="000000"/>
              </a:solidFill>
              <a:effectLst/>
              <a:latin typeface="Times New Roman" panose="02020603050405020304" pitchFamily="18" charset="0"/>
            </a:endParaRPr>
          </a:p>
          <a:p>
            <a:pPr marL="114300" indent="0">
              <a:buNone/>
            </a:pPr>
            <a:r>
              <a:rPr lang="en-GB" sz="1700" dirty="0">
                <a:solidFill>
                  <a:srgbClr val="000000"/>
                </a:solidFill>
                <a:effectLst/>
                <a:latin typeface="Times New Roman" panose="02020603050405020304" pitchFamily="18" charset="0"/>
              </a:rPr>
              <a:t>10. </a:t>
            </a:r>
            <a:r>
              <a:rPr lang="en-GB" sz="1700" b="1" dirty="0">
                <a:solidFill>
                  <a:srgbClr val="000000"/>
                </a:solidFill>
                <a:effectLst/>
                <a:latin typeface="Times New Roman" panose="02020603050405020304" pitchFamily="18" charset="0"/>
              </a:rPr>
              <a:t>Evaluate Long-Term Health Impact:</a:t>
            </a:r>
          </a:p>
          <a:p>
            <a:pPr marL="114300" indent="0">
              <a:buNone/>
            </a:pPr>
            <a:r>
              <a:rPr lang="en-GB" sz="1700" dirty="0">
                <a:solidFill>
                  <a:srgbClr val="000000"/>
                </a:solidFill>
                <a:effectLst/>
                <a:latin typeface="Times New Roman" panose="02020603050405020304" pitchFamily="18" charset="0"/>
              </a:rPr>
              <a:t>    - Long-term assessment essential.</a:t>
            </a:r>
            <a:endParaRPr lang="en-IN" sz="1700" dirty="0">
              <a:solidFill>
                <a:srgbClr val="000000"/>
              </a:solidFill>
              <a:effectLst/>
              <a:latin typeface="Times New Roman" panose="02020603050405020304" pitchFamily="18" charset="0"/>
            </a:endParaRPr>
          </a:p>
          <a:p>
            <a:pPr marL="114300" indent="0">
              <a:buNone/>
            </a:pPr>
            <a:endParaRPr lang="en-IN" sz="1700" dirty="0">
              <a:solidFill>
                <a:srgbClr val="000000"/>
              </a:solidFill>
              <a:effectLst/>
              <a:latin typeface="Times New Roman" panose="02020603050405020304" pitchFamily="18" charset="0"/>
            </a:endParaRPr>
          </a:p>
        </p:txBody>
      </p:sp>
      <p:pic>
        <p:nvPicPr>
          <p:cNvPr id="107" name="Google Shape;107;p5">
            <a:extLst>
              <a:ext uri="{FF2B5EF4-FFF2-40B4-BE49-F238E27FC236}">
                <a16:creationId xmlns:a16="http://schemas.microsoft.com/office/drawing/2014/main" id="{AD62CB1E-3B7C-718E-37FE-F100CAC70276}"/>
              </a:ext>
            </a:extLst>
          </p:cNvPr>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a:extLst>
              <a:ext uri="{FF2B5EF4-FFF2-40B4-BE49-F238E27FC236}">
                <a16:creationId xmlns:a16="http://schemas.microsoft.com/office/drawing/2014/main" id="{638AEBF6-1C61-0D01-A4E5-E95ACD9A66F5}"/>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lang="en-US" dirty="0"/>
          </a:p>
        </p:txBody>
      </p:sp>
      <p:sp>
        <p:nvSpPr>
          <p:cNvPr id="110" name="Google Shape;110;p5">
            <a:extLst>
              <a:ext uri="{FF2B5EF4-FFF2-40B4-BE49-F238E27FC236}">
                <a16:creationId xmlns:a16="http://schemas.microsoft.com/office/drawing/2014/main" id="{283CB643-2502-D743-9699-61B7D393396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3" name="TextBox 2">
            <a:extLst>
              <a:ext uri="{FF2B5EF4-FFF2-40B4-BE49-F238E27FC236}">
                <a16:creationId xmlns:a16="http://schemas.microsoft.com/office/drawing/2014/main" id="{1D4EA113-C903-068D-0203-B4DDD105F452}"/>
              </a:ext>
            </a:extLst>
          </p:cNvPr>
          <p:cNvSpPr txBox="1"/>
          <p:nvPr/>
        </p:nvSpPr>
        <p:spPr>
          <a:xfrm>
            <a:off x="2882806" y="441469"/>
            <a:ext cx="4737194" cy="646331"/>
          </a:xfrm>
          <a:prstGeom prst="rect">
            <a:avLst/>
          </a:prstGeom>
          <a:noFill/>
        </p:spPr>
        <p:txBody>
          <a:bodyPr wrap="none" rtlCol="0">
            <a:spAutoFit/>
          </a:bodyPr>
          <a:lstStyle/>
          <a:p>
            <a:r>
              <a:rPr lang="en-IN" sz="3600" dirty="0">
                <a:solidFill>
                  <a:srgbClr val="000000"/>
                </a:solidFill>
                <a:effectLst/>
                <a:latin typeface="Times New Roman" panose="02020603050405020304" pitchFamily="18" charset="0"/>
              </a:rPr>
              <a:t>Objectives of the project</a:t>
            </a:r>
          </a:p>
        </p:txBody>
      </p:sp>
    </p:spTree>
    <p:extLst>
      <p:ext uri="{BB962C8B-B14F-4D97-AF65-F5344CB8AC3E}">
        <p14:creationId xmlns:p14="http://schemas.microsoft.com/office/powerpoint/2010/main" val="195587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rmAutofit/>
          </a:bodyPr>
          <a:lstStyle/>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1. </a:t>
            </a:r>
            <a:r>
              <a:rPr lang="en-GB" sz="1400" b="1" i="0" dirty="0">
                <a:solidFill>
                  <a:schemeClr val="tx1"/>
                </a:solidFill>
                <a:effectLst/>
                <a:latin typeface="Times New Roman" panose="02020603050405020304" pitchFamily="18" charset="0"/>
                <a:cs typeface="Times New Roman" panose="02020603050405020304" pitchFamily="18" charset="0"/>
              </a:rPr>
              <a:t>Introduce Augmented Reality (AR) Integration:</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AR enhances posture feedback.</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2. </a:t>
            </a:r>
            <a:r>
              <a:rPr lang="en-GB" sz="1400" b="1" i="0" dirty="0">
                <a:solidFill>
                  <a:schemeClr val="tx1"/>
                </a:solidFill>
                <a:effectLst/>
                <a:latin typeface="Times New Roman" panose="02020603050405020304" pitchFamily="18" charset="0"/>
                <a:cs typeface="Times New Roman" panose="02020603050405020304" pitchFamily="18" charset="0"/>
              </a:rPr>
              <a:t>Implement AI-driven Adaptive Recommendations: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AI tailors posture plans.</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3. </a:t>
            </a:r>
            <a:r>
              <a:rPr lang="en-GB" sz="1400" b="1" i="0" dirty="0">
                <a:solidFill>
                  <a:schemeClr val="tx1"/>
                </a:solidFill>
                <a:effectLst/>
                <a:latin typeface="Times New Roman" panose="02020603050405020304" pitchFamily="18" charset="0"/>
                <a:cs typeface="Times New Roman" panose="02020603050405020304" pitchFamily="18" charset="0"/>
              </a:rPr>
              <a:t>Integrate Wearable Devices for Holistic Monitoring:</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Integrate wearables for insight.</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4. </a:t>
            </a:r>
            <a:r>
              <a:rPr lang="en-GB" sz="1400" b="1" i="0" dirty="0">
                <a:solidFill>
                  <a:schemeClr val="tx1"/>
                </a:solidFill>
                <a:effectLst/>
                <a:latin typeface="Times New Roman" panose="02020603050405020304" pitchFamily="18" charset="0"/>
                <a:cs typeface="Times New Roman" panose="02020603050405020304" pitchFamily="18" charset="0"/>
              </a:rPr>
              <a:t>Gamify Posture Improvement:</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Gamify posture, incentivize participation.</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Söhne"/>
              </a:rPr>
              <a:t>5. </a:t>
            </a:r>
            <a:r>
              <a:rPr lang="en-GB" sz="1400" b="1" i="0" dirty="0">
                <a:solidFill>
                  <a:schemeClr val="tx1"/>
                </a:solidFill>
                <a:effectLst/>
                <a:latin typeface="Söhne"/>
              </a:rPr>
              <a:t>Incorporate Voice Recognition for Hands-Free Interaction:</a:t>
            </a:r>
          </a:p>
          <a:p>
            <a:pPr marL="114300" indent="0" algn="l">
              <a:buNone/>
            </a:pPr>
            <a:r>
              <a:rPr lang="en-GB" sz="1400" b="0" i="0" dirty="0">
                <a:solidFill>
                  <a:schemeClr val="tx1"/>
                </a:solidFill>
                <a:effectLst/>
                <a:latin typeface="Söhne"/>
              </a:rPr>
              <a:t>   - Voice recognition enhances UX.</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6. </a:t>
            </a:r>
            <a:r>
              <a:rPr lang="en-GB" sz="1400" b="1" i="0" dirty="0">
                <a:solidFill>
                  <a:schemeClr val="tx1"/>
                </a:solidFill>
                <a:effectLst/>
                <a:latin typeface="Times New Roman" panose="02020603050405020304" pitchFamily="18" charset="0"/>
                <a:cs typeface="Times New Roman" panose="02020603050405020304" pitchFamily="18" charset="0"/>
              </a:rPr>
              <a:t>Enable Virtual Collaboration Spaces: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Virtual spaces aid communication.</a:t>
            </a: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lang="en-US" dirty="0"/>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3" name="TextBox 2">
            <a:extLst>
              <a:ext uri="{FF2B5EF4-FFF2-40B4-BE49-F238E27FC236}">
                <a16:creationId xmlns:a16="http://schemas.microsoft.com/office/drawing/2014/main" id="{013A3E26-8A73-B60F-6201-EDEF2314AA9C}"/>
              </a:ext>
            </a:extLst>
          </p:cNvPr>
          <p:cNvSpPr txBox="1"/>
          <p:nvPr/>
        </p:nvSpPr>
        <p:spPr>
          <a:xfrm>
            <a:off x="3124200" y="573097"/>
            <a:ext cx="4427815"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Innovation idea of the project</a:t>
            </a:r>
            <a:endParaRPr lang="en-US" sz="2800" dirty="0"/>
          </a:p>
        </p:txBody>
      </p:sp>
    </p:spTree>
    <p:extLst>
      <p:ext uri="{BB962C8B-B14F-4D97-AF65-F5344CB8AC3E}">
        <p14:creationId xmlns:p14="http://schemas.microsoft.com/office/powerpoint/2010/main" val="1968478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rmAutofit/>
          </a:bodyPr>
          <a:lstStyle/>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7. </a:t>
            </a:r>
            <a:r>
              <a:rPr lang="en-GB" sz="1600" b="1" i="0" dirty="0">
                <a:solidFill>
                  <a:schemeClr val="tx1"/>
                </a:solidFill>
                <a:effectLst/>
                <a:latin typeface="Times New Roman" panose="02020603050405020304" pitchFamily="18" charset="0"/>
                <a:cs typeface="Times New Roman" panose="02020603050405020304" pitchFamily="18" charset="0"/>
              </a:rPr>
              <a:t>Implement Stress Level Monitoring:</a:t>
            </a:r>
          </a:p>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   - Monitor stress through posture.</a:t>
            </a:r>
          </a:p>
          <a:p>
            <a:pPr marL="114300" indent="0" algn="l">
              <a:buNone/>
            </a:pPr>
            <a:endParaRPr lang="en-GB" sz="1600" dirty="0">
              <a:solidFill>
                <a:schemeClr val="tx1"/>
              </a:solidFill>
              <a:latin typeface="Times New Roman" panose="02020603050405020304" pitchFamily="18" charset="0"/>
              <a:cs typeface="Times New Roman" panose="02020603050405020304" pitchFamily="18" charset="0"/>
            </a:endParaRPr>
          </a:p>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8. </a:t>
            </a:r>
            <a:r>
              <a:rPr lang="en-GB" sz="1600" b="1" i="0" dirty="0">
                <a:solidFill>
                  <a:schemeClr val="tx1"/>
                </a:solidFill>
                <a:effectLst/>
                <a:latin typeface="Times New Roman" panose="02020603050405020304" pitchFamily="18" charset="0"/>
                <a:cs typeface="Times New Roman" panose="02020603050405020304" pitchFamily="18" charset="0"/>
              </a:rPr>
              <a:t>Explore Biofeedback Mechanisms:</a:t>
            </a:r>
          </a:p>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   - Biofeedback enhances immersion.</a:t>
            </a:r>
          </a:p>
          <a:p>
            <a:pPr marL="114300" indent="0" algn="l">
              <a:buNone/>
            </a:pPr>
            <a:endParaRPr lang="en-GB" sz="16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9. </a:t>
            </a:r>
            <a:r>
              <a:rPr lang="en-GB" sz="1600" b="1" i="0" dirty="0">
                <a:solidFill>
                  <a:schemeClr val="tx1"/>
                </a:solidFill>
                <a:effectLst/>
                <a:latin typeface="Times New Roman" panose="02020603050405020304" pitchFamily="18" charset="0"/>
                <a:cs typeface="Times New Roman" panose="02020603050405020304" pitchFamily="18" charset="0"/>
              </a:rPr>
              <a:t>Enhance Accessibility with Mobile Applications:</a:t>
            </a:r>
          </a:p>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   - User-friendly app enhances posture.</a:t>
            </a:r>
          </a:p>
          <a:p>
            <a:pPr marL="114300" indent="0" algn="l">
              <a:buNone/>
            </a:pPr>
            <a:endParaRPr lang="en-GB" sz="16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10. </a:t>
            </a:r>
            <a:r>
              <a:rPr lang="en-GB" sz="1600" b="1" dirty="0">
                <a:solidFill>
                  <a:schemeClr val="tx1"/>
                </a:solidFill>
                <a:latin typeface="Times New Roman" panose="02020603050405020304" pitchFamily="18" charset="0"/>
                <a:cs typeface="Times New Roman" panose="02020603050405020304" pitchFamily="18" charset="0"/>
              </a:rPr>
              <a:t>I</a:t>
            </a:r>
            <a:r>
              <a:rPr lang="en-GB" sz="1600" b="1" i="0" dirty="0">
                <a:solidFill>
                  <a:schemeClr val="tx1"/>
                </a:solidFill>
                <a:effectLst/>
                <a:latin typeface="Times New Roman" panose="02020603050405020304" pitchFamily="18" charset="0"/>
                <a:cs typeface="Times New Roman" panose="02020603050405020304" pitchFamily="18" charset="0"/>
              </a:rPr>
              <a:t>mplement Continuous Learning Algorithms:</a:t>
            </a:r>
          </a:p>
          <a:p>
            <a:pPr marL="114300" indent="0" algn="l">
              <a:buNone/>
            </a:pPr>
            <a:r>
              <a:rPr lang="en-GB" sz="1600" b="0" i="0" dirty="0">
                <a:solidFill>
                  <a:schemeClr val="tx1"/>
                </a:solidFill>
                <a:effectLst/>
                <a:latin typeface="Times New Roman" panose="02020603050405020304" pitchFamily="18" charset="0"/>
                <a:cs typeface="Times New Roman" panose="02020603050405020304" pitchFamily="18" charset="0"/>
              </a:rPr>
              <a:t>    - Adapt, learn, integrate.</a:t>
            </a:r>
            <a:endParaRPr lang="en-IN" sz="16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endParaRPr lang="en-IN" sz="1600" b="0" i="0" dirty="0">
              <a:solidFill>
                <a:schemeClr val="tx1"/>
              </a:solidFill>
              <a:effectLst/>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lang="en-US" dirty="0"/>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3" name="TextBox 2">
            <a:extLst>
              <a:ext uri="{FF2B5EF4-FFF2-40B4-BE49-F238E27FC236}">
                <a16:creationId xmlns:a16="http://schemas.microsoft.com/office/drawing/2014/main" id="{013A3E26-8A73-B60F-6201-EDEF2314AA9C}"/>
              </a:ext>
            </a:extLst>
          </p:cNvPr>
          <p:cNvSpPr txBox="1"/>
          <p:nvPr/>
        </p:nvSpPr>
        <p:spPr>
          <a:xfrm>
            <a:off x="3124200" y="573097"/>
            <a:ext cx="4427815"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Innovation idea of the project</a:t>
            </a:r>
            <a:endParaRPr lang="en-US" sz="2800" dirty="0"/>
          </a:p>
        </p:txBody>
      </p:sp>
    </p:spTree>
    <p:extLst>
      <p:ext uri="{BB962C8B-B14F-4D97-AF65-F5344CB8AC3E}">
        <p14:creationId xmlns:p14="http://schemas.microsoft.com/office/powerpoint/2010/main" val="2021931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Scope and Application</a:t>
            </a:r>
            <a:endParaRPr dirty="0"/>
          </a:p>
        </p:txBody>
      </p:sp>
      <p:sp>
        <p:nvSpPr>
          <p:cNvPr id="97" name="Google Shape;97;p2"/>
          <p:cNvSpPr txBox="1">
            <a:spLocks noGrp="1"/>
          </p:cNvSpPr>
          <p:nvPr>
            <p:ph type="body" idx="1"/>
          </p:nvPr>
        </p:nvSpPr>
        <p:spPr>
          <a:xfrm>
            <a:off x="457200" y="1600200"/>
            <a:ext cx="8229600" cy="4756150"/>
          </a:xfrm>
          <a:prstGeom prst="rect">
            <a:avLst/>
          </a:prstGeom>
          <a:noFill/>
          <a:ln>
            <a:noFill/>
          </a:ln>
        </p:spPr>
        <p:txBody>
          <a:bodyPr spcFirstLastPara="1" wrap="square" lIns="91425" tIns="45700" rIns="91425" bIns="45700" anchor="t" anchorCtr="0">
            <a:noAutofit/>
          </a:bodyPr>
          <a:lstStyle/>
          <a:p>
            <a:pPr marL="114300" indent="0">
              <a:buNone/>
            </a:pPr>
            <a:r>
              <a:rPr lang="en-GB" sz="1400" b="0" i="0" u="none" strike="noStrike" dirty="0">
                <a:effectLst/>
                <a:latin typeface="Times New Roman" panose="02020603050405020304" pitchFamily="18" charset="0"/>
                <a:cs typeface="Times New Roman" panose="02020603050405020304" pitchFamily="18" charset="0"/>
              </a:rPr>
              <a:t>1. </a:t>
            </a:r>
            <a:r>
              <a:rPr lang="en-GB" sz="1400" b="1" i="0" u="none" strike="noStrike" dirty="0">
                <a:effectLst/>
                <a:latin typeface="Times New Roman" panose="02020603050405020304" pitchFamily="18" charset="0"/>
                <a:cs typeface="Times New Roman" panose="02020603050405020304" pitchFamily="18" charset="0"/>
              </a:rPr>
              <a:t>Telecommuting Workforce Wellness:</a:t>
            </a: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   - </a:t>
            </a:r>
            <a:r>
              <a:rPr lang="en-GB" sz="1400" b="1" i="0" u="none" strike="noStrike" dirty="0">
                <a:effectLst/>
                <a:latin typeface="Times New Roman" panose="02020603050405020304" pitchFamily="18" charset="0"/>
                <a:cs typeface="Times New Roman" panose="02020603050405020304" pitchFamily="18" charset="0"/>
              </a:rPr>
              <a:t>Scope: </a:t>
            </a:r>
            <a:r>
              <a:rPr lang="en-GB" sz="1400" b="0" i="0" u="none" strike="noStrike" dirty="0">
                <a:effectLst/>
                <a:latin typeface="Times New Roman" panose="02020603050405020304" pitchFamily="18" charset="0"/>
                <a:cs typeface="Times New Roman" panose="02020603050405020304" pitchFamily="18" charset="0"/>
              </a:rPr>
              <a:t>Telecommuter well-being improved.</a:t>
            </a: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   - </a:t>
            </a:r>
            <a:r>
              <a:rPr lang="en-GB" sz="1400" b="1" i="0" u="none" strike="noStrike" dirty="0">
                <a:effectLst/>
                <a:latin typeface="Times New Roman" panose="02020603050405020304" pitchFamily="18" charset="0"/>
                <a:cs typeface="Times New Roman" panose="02020603050405020304" pitchFamily="18" charset="0"/>
              </a:rPr>
              <a:t>Application: </a:t>
            </a:r>
            <a:r>
              <a:rPr lang="en-GB" sz="1400" b="0" i="0" u="none" strike="noStrike" dirty="0">
                <a:effectLst/>
                <a:latin typeface="Times New Roman" panose="02020603050405020304" pitchFamily="18" charset="0"/>
                <a:cs typeface="Times New Roman" panose="02020603050405020304" pitchFamily="18" charset="0"/>
              </a:rPr>
              <a:t>Home workers, posture feedback.</a:t>
            </a:r>
          </a:p>
          <a:p>
            <a:pPr marL="114300" indent="0">
              <a:buNone/>
            </a:pPr>
            <a:endParaRPr lang="en-GB" sz="1400" b="0" i="0" u="none" strike="noStrike" dirty="0">
              <a:effectLst/>
              <a:latin typeface="Times New Roman" panose="02020603050405020304" pitchFamily="18" charset="0"/>
              <a:cs typeface="Times New Roman" panose="02020603050405020304" pitchFamily="18" charset="0"/>
            </a:endParaRP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2. </a:t>
            </a:r>
            <a:r>
              <a:rPr lang="en-GB" sz="1400" b="1" i="0" u="none" strike="noStrike" dirty="0">
                <a:effectLst/>
                <a:latin typeface="Times New Roman" panose="02020603050405020304" pitchFamily="18" charset="0"/>
                <a:cs typeface="Times New Roman" panose="02020603050405020304" pitchFamily="18" charset="0"/>
              </a:rPr>
              <a:t>Occupational Risk Prevention:</a:t>
            </a: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   - </a:t>
            </a:r>
            <a:r>
              <a:rPr lang="en-GB" sz="1400" b="1" i="0" u="none" strike="noStrike" dirty="0">
                <a:effectLst/>
                <a:latin typeface="Times New Roman" panose="02020603050405020304" pitchFamily="18" charset="0"/>
                <a:cs typeface="Times New Roman" panose="02020603050405020304" pitchFamily="18" charset="0"/>
              </a:rPr>
              <a:t>Scope: </a:t>
            </a:r>
            <a:r>
              <a:rPr lang="en-GB" sz="1400" b="0" i="0" u="none" strike="noStrike" dirty="0">
                <a:effectLst/>
                <a:latin typeface="Times New Roman" panose="02020603050405020304" pitchFamily="18" charset="0"/>
                <a:cs typeface="Times New Roman" panose="02020603050405020304" pitchFamily="18" charset="0"/>
              </a:rPr>
              <a:t>Project enhances medical safety.</a:t>
            </a: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   - </a:t>
            </a:r>
            <a:r>
              <a:rPr lang="en-GB" sz="1400" b="1" i="0" u="none" strike="noStrike" dirty="0">
                <a:effectLst/>
                <a:latin typeface="Times New Roman" panose="02020603050405020304" pitchFamily="18" charset="0"/>
                <a:cs typeface="Times New Roman" panose="02020603050405020304" pitchFamily="18" charset="0"/>
              </a:rPr>
              <a:t>Application: </a:t>
            </a:r>
            <a:r>
              <a:rPr lang="en-GB" sz="1400" b="0" i="0" u="none" strike="noStrike" dirty="0">
                <a:effectLst/>
                <a:latin typeface="Times New Roman" panose="02020603050405020304" pitchFamily="18" charset="0"/>
                <a:cs typeface="Times New Roman" panose="02020603050405020304" pitchFamily="18" charset="0"/>
              </a:rPr>
              <a:t>Prevents health issues proactively.</a:t>
            </a:r>
          </a:p>
          <a:p>
            <a:pPr marL="114300" indent="0">
              <a:buNone/>
            </a:pPr>
            <a:endParaRPr lang="en-GB" sz="1400" b="0" i="0" u="none" strike="noStrike" dirty="0">
              <a:effectLst/>
              <a:latin typeface="Times New Roman" panose="02020603050405020304" pitchFamily="18" charset="0"/>
              <a:cs typeface="Times New Roman" panose="02020603050405020304" pitchFamily="18" charset="0"/>
            </a:endParaRP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3. </a:t>
            </a:r>
            <a:r>
              <a:rPr lang="en-GB" sz="1400" b="1" i="0" u="none" strike="noStrike" dirty="0">
                <a:effectLst/>
                <a:latin typeface="Times New Roman" panose="02020603050405020304" pitchFamily="18" charset="0"/>
                <a:cs typeface="Times New Roman" panose="02020603050405020304" pitchFamily="18" charset="0"/>
              </a:rPr>
              <a:t>Automated Posture Detection and Analysis:</a:t>
            </a: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   - </a:t>
            </a:r>
            <a:r>
              <a:rPr lang="en-GB" sz="1400" b="1" i="0" u="none" strike="noStrike" dirty="0">
                <a:effectLst/>
                <a:latin typeface="Times New Roman" panose="02020603050405020304" pitchFamily="18" charset="0"/>
                <a:cs typeface="Times New Roman" panose="02020603050405020304" pitchFamily="18" charset="0"/>
              </a:rPr>
              <a:t>Scope: </a:t>
            </a:r>
            <a:r>
              <a:rPr lang="en-GB" sz="1400" b="0" i="0" u="none" strike="noStrike" dirty="0">
                <a:effectLst/>
                <a:latin typeface="Times New Roman" panose="02020603050405020304" pitchFamily="18" charset="0"/>
                <a:cs typeface="Times New Roman" panose="02020603050405020304" pitchFamily="18" charset="0"/>
              </a:rPr>
              <a:t>Automated posture detection.</a:t>
            </a:r>
          </a:p>
          <a:p>
            <a:pPr marL="114300" indent="0">
              <a:buNone/>
            </a:pPr>
            <a:r>
              <a:rPr lang="en-GB" sz="1400" b="0" i="0" u="none" strike="noStrike" dirty="0">
                <a:effectLst/>
                <a:latin typeface="Times New Roman" panose="02020603050405020304" pitchFamily="18" charset="0"/>
                <a:cs typeface="Times New Roman" panose="02020603050405020304" pitchFamily="18" charset="0"/>
              </a:rPr>
              <a:t>   - </a:t>
            </a:r>
            <a:r>
              <a:rPr lang="en-GB" sz="1400" b="1" i="0" u="none" strike="noStrike" dirty="0">
                <a:effectLst/>
                <a:latin typeface="Times New Roman" panose="02020603050405020304" pitchFamily="18" charset="0"/>
                <a:cs typeface="Times New Roman" panose="02020603050405020304" pitchFamily="18" charset="0"/>
              </a:rPr>
              <a:t>Application: </a:t>
            </a:r>
            <a:r>
              <a:rPr lang="en-GB" sz="1400" b="0" i="0" u="none" strike="noStrike" dirty="0">
                <a:effectLst/>
                <a:latin typeface="Times New Roman" panose="02020603050405020304" pitchFamily="18" charset="0"/>
                <a:cs typeface="Times New Roman" panose="02020603050405020304" pitchFamily="18" charset="0"/>
              </a:rPr>
              <a:t>Hands-free posture monitoring.</a:t>
            </a:r>
          </a:p>
          <a:p>
            <a:pPr marL="114300" indent="0">
              <a:buNone/>
            </a:pPr>
            <a:endParaRPr lang="en-GB" sz="1400" b="0" i="0" u="none" strike="noStrike" dirty="0">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4. </a:t>
            </a:r>
            <a:r>
              <a:rPr lang="en-GB" sz="1400" b="1" i="0" dirty="0">
                <a:solidFill>
                  <a:schemeClr val="tx1"/>
                </a:solidFill>
                <a:effectLst/>
                <a:latin typeface="Times New Roman" panose="02020603050405020304" pitchFamily="18" charset="0"/>
                <a:cs typeface="Times New Roman" panose="02020603050405020304" pitchFamily="18" charset="0"/>
              </a:rPr>
              <a:t>Specialized Hardware and Convolutional Neural Networks (CNNs):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Scope: </a:t>
            </a:r>
            <a:r>
              <a:rPr lang="en-GB" sz="1400" b="0" i="0" dirty="0">
                <a:solidFill>
                  <a:schemeClr val="tx1"/>
                </a:solidFill>
                <a:effectLst/>
                <a:latin typeface="Times New Roman" panose="02020603050405020304" pitchFamily="18" charset="0"/>
                <a:cs typeface="Times New Roman" panose="02020603050405020304" pitchFamily="18" charset="0"/>
              </a:rPr>
              <a:t>Specialized hardware, efficient CNNs.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Application: </a:t>
            </a:r>
            <a:r>
              <a:rPr lang="en-GB" sz="1400" b="0" i="0" dirty="0">
                <a:solidFill>
                  <a:schemeClr val="tx1"/>
                </a:solidFill>
                <a:effectLst/>
                <a:latin typeface="Times New Roman" panose="02020603050405020304" pitchFamily="18" charset="0"/>
                <a:cs typeface="Times New Roman" panose="02020603050405020304" pitchFamily="18" charset="0"/>
              </a:rPr>
              <a:t>Versatile system, high speed.</a:t>
            </a:r>
          </a:p>
          <a:p>
            <a:pPr marL="114300" indent="0">
              <a:buNone/>
            </a:pPr>
            <a:endParaRPr lang="en-GB" sz="1400" b="0" i="0" u="none" strike="noStrike" dirty="0">
              <a:effectLst/>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982291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Scope and Application</a:t>
            </a:r>
            <a:endParaRPr dirty="0"/>
          </a:p>
        </p:txBody>
      </p:sp>
      <p:sp>
        <p:nvSpPr>
          <p:cNvPr id="97" name="Google Shape;97;p2"/>
          <p:cNvSpPr txBox="1">
            <a:spLocks noGrp="1"/>
          </p:cNvSpPr>
          <p:nvPr>
            <p:ph type="body" idx="1"/>
          </p:nvPr>
        </p:nvSpPr>
        <p:spPr>
          <a:xfrm>
            <a:off x="457200" y="1600200"/>
            <a:ext cx="8229600" cy="4704447"/>
          </a:xfrm>
          <a:prstGeom prst="rect">
            <a:avLst/>
          </a:prstGeom>
          <a:noFill/>
          <a:ln>
            <a:noFill/>
          </a:ln>
        </p:spPr>
        <p:txBody>
          <a:bodyPr spcFirstLastPara="1" wrap="square" lIns="91425" tIns="45700" rIns="91425" bIns="45700" anchor="t" anchorCtr="0">
            <a:normAutofit/>
          </a:bodyPr>
          <a:lstStyle/>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5. </a:t>
            </a:r>
            <a:r>
              <a:rPr lang="en-GB" sz="1500" b="1" i="0" dirty="0">
                <a:solidFill>
                  <a:schemeClr val="tx1"/>
                </a:solidFill>
                <a:effectLst/>
                <a:latin typeface="Times New Roman" panose="02020603050405020304" pitchFamily="18" charset="0"/>
                <a:cs typeface="Times New Roman" panose="02020603050405020304" pitchFamily="18" charset="0"/>
              </a:rPr>
              <a:t>Real-time Video Processing:</a:t>
            </a: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   - </a:t>
            </a:r>
            <a:r>
              <a:rPr lang="en-GB" sz="1500" b="1" i="0" dirty="0">
                <a:solidFill>
                  <a:schemeClr val="tx1"/>
                </a:solidFill>
                <a:effectLst/>
                <a:latin typeface="Times New Roman" panose="02020603050405020304" pitchFamily="18" charset="0"/>
                <a:cs typeface="Times New Roman" panose="02020603050405020304" pitchFamily="18" charset="0"/>
              </a:rPr>
              <a:t>Scope: </a:t>
            </a:r>
            <a:r>
              <a:rPr lang="en-GB" sz="1500" b="0" i="0" dirty="0">
                <a:solidFill>
                  <a:schemeClr val="tx1"/>
                </a:solidFill>
                <a:effectLst/>
                <a:latin typeface="Times New Roman" panose="02020603050405020304" pitchFamily="18" charset="0"/>
                <a:cs typeface="Times New Roman" panose="02020603050405020304" pitchFamily="18" charset="0"/>
              </a:rPr>
              <a:t>Real-time posture feedback.</a:t>
            </a: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   - </a:t>
            </a:r>
            <a:r>
              <a:rPr lang="en-GB" sz="1500" b="1" i="0" dirty="0">
                <a:solidFill>
                  <a:schemeClr val="tx1"/>
                </a:solidFill>
                <a:effectLst/>
                <a:latin typeface="Times New Roman" panose="02020603050405020304" pitchFamily="18" charset="0"/>
                <a:cs typeface="Times New Roman" panose="02020603050405020304" pitchFamily="18" charset="0"/>
              </a:rPr>
              <a:t>Application: </a:t>
            </a:r>
            <a:r>
              <a:rPr lang="en-GB" sz="1500" b="0" i="0" dirty="0">
                <a:solidFill>
                  <a:schemeClr val="tx1"/>
                </a:solidFill>
                <a:effectLst/>
                <a:latin typeface="Times New Roman" panose="02020603050405020304" pitchFamily="18" charset="0"/>
                <a:cs typeface="Times New Roman" panose="02020603050405020304" pitchFamily="18" charset="0"/>
              </a:rPr>
              <a:t>Telecommuters adjust timely.</a:t>
            </a:r>
          </a:p>
          <a:p>
            <a:pPr marL="114300" indent="0" algn="l">
              <a:buNone/>
            </a:pPr>
            <a:endParaRPr lang="en-GB" sz="15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6. </a:t>
            </a:r>
            <a:r>
              <a:rPr lang="en-GB" sz="1500" b="1" i="0" dirty="0">
                <a:solidFill>
                  <a:schemeClr val="tx1"/>
                </a:solidFill>
                <a:effectLst/>
                <a:latin typeface="Times New Roman" panose="02020603050405020304" pitchFamily="18" charset="0"/>
                <a:cs typeface="Times New Roman" panose="02020603050405020304" pitchFamily="18" charset="0"/>
              </a:rPr>
              <a:t>Low Power Consumption:</a:t>
            </a: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   - </a:t>
            </a:r>
            <a:r>
              <a:rPr lang="en-GB" sz="1500" b="1" i="0" dirty="0">
                <a:solidFill>
                  <a:schemeClr val="tx1"/>
                </a:solidFill>
                <a:effectLst/>
                <a:latin typeface="Times New Roman" panose="02020603050405020304" pitchFamily="18" charset="0"/>
                <a:cs typeface="Times New Roman" panose="02020603050405020304" pitchFamily="18" charset="0"/>
              </a:rPr>
              <a:t>Scope: </a:t>
            </a:r>
            <a:r>
              <a:rPr lang="en-GB" sz="1500" b="0" i="0" dirty="0">
                <a:solidFill>
                  <a:schemeClr val="tx1"/>
                </a:solidFill>
                <a:effectLst/>
                <a:latin typeface="Times New Roman" panose="02020603050405020304" pitchFamily="18" charset="0"/>
                <a:cs typeface="Times New Roman" panose="02020603050405020304" pitchFamily="18" charset="0"/>
              </a:rPr>
              <a:t>Low consumption, sustainable usage.</a:t>
            </a: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   - </a:t>
            </a:r>
            <a:r>
              <a:rPr lang="en-GB" sz="1500" b="1" i="0" dirty="0">
                <a:solidFill>
                  <a:schemeClr val="tx1"/>
                </a:solidFill>
                <a:effectLst/>
                <a:latin typeface="Times New Roman" panose="02020603050405020304" pitchFamily="18" charset="0"/>
                <a:cs typeface="Times New Roman" panose="02020603050405020304" pitchFamily="18" charset="0"/>
              </a:rPr>
              <a:t>Application: </a:t>
            </a:r>
            <a:r>
              <a:rPr lang="en-GB" sz="1500" b="0" i="0" dirty="0">
                <a:solidFill>
                  <a:schemeClr val="tx1"/>
                </a:solidFill>
                <a:effectLst/>
                <a:latin typeface="Times New Roman" panose="02020603050405020304" pitchFamily="18" charset="0"/>
                <a:cs typeface="Times New Roman" panose="02020603050405020304" pitchFamily="18" charset="0"/>
              </a:rPr>
              <a:t>Continuous use, low impact.</a:t>
            </a:r>
          </a:p>
          <a:p>
            <a:pPr marL="114300" indent="0" algn="l">
              <a:buNone/>
            </a:pPr>
            <a:endParaRPr lang="en-GB" sz="15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7. </a:t>
            </a:r>
            <a:r>
              <a:rPr lang="en-GB" sz="1500" b="1" i="0" dirty="0">
                <a:solidFill>
                  <a:schemeClr val="tx1"/>
                </a:solidFill>
                <a:effectLst/>
                <a:latin typeface="Times New Roman" panose="02020603050405020304" pitchFamily="18" charset="0"/>
                <a:cs typeface="Times New Roman" panose="02020603050405020304" pitchFamily="18" charset="0"/>
              </a:rPr>
              <a:t>Accuracy in Posture Detection:</a:t>
            </a: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   - </a:t>
            </a:r>
            <a:r>
              <a:rPr lang="en-GB" sz="1500" b="1" i="0" dirty="0">
                <a:solidFill>
                  <a:schemeClr val="tx1"/>
                </a:solidFill>
                <a:effectLst/>
                <a:latin typeface="Times New Roman" panose="02020603050405020304" pitchFamily="18" charset="0"/>
                <a:cs typeface="Times New Roman" panose="02020603050405020304" pitchFamily="18" charset="0"/>
              </a:rPr>
              <a:t>Scope: </a:t>
            </a:r>
            <a:r>
              <a:rPr lang="en-GB" sz="1500" b="0" i="0" dirty="0">
                <a:solidFill>
                  <a:schemeClr val="tx1"/>
                </a:solidFill>
                <a:effectLst/>
                <a:latin typeface="Times New Roman" panose="02020603050405020304" pitchFamily="18" charset="0"/>
                <a:cs typeface="Times New Roman" panose="02020603050405020304" pitchFamily="18" charset="0"/>
              </a:rPr>
              <a:t>80% accuracy reliable.</a:t>
            </a:r>
          </a:p>
          <a:p>
            <a:pPr marL="114300" indent="0" algn="l">
              <a:buNone/>
            </a:pPr>
            <a:r>
              <a:rPr lang="en-GB" sz="1500" b="0" i="0" dirty="0">
                <a:solidFill>
                  <a:schemeClr val="tx1"/>
                </a:solidFill>
                <a:effectLst/>
                <a:latin typeface="Times New Roman" panose="02020603050405020304" pitchFamily="18" charset="0"/>
                <a:cs typeface="Times New Roman" panose="02020603050405020304" pitchFamily="18" charset="0"/>
              </a:rPr>
              <a:t>   - </a:t>
            </a:r>
            <a:r>
              <a:rPr lang="en-GB" sz="1500" b="1" i="0" dirty="0">
                <a:solidFill>
                  <a:schemeClr val="tx1"/>
                </a:solidFill>
                <a:effectLst/>
                <a:latin typeface="Times New Roman" panose="02020603050405020304" pitchFamily="18" charset="0"/>
                <a:cs typeface="Times New Roman" panose="02020603050405020304" pitchFamily="18" charset="0"/>
              </a:rPr>
              <a:t>Application: </a:t>
            </a:r>
            <a:r>
              <a:rPr lang="en-GB" sz="1500" b="0" i="0" dirty="0">
                <a:solidFill>
                  <a:schemeClr val="tx1"/>
                </a:solidFill>
                <a:effectLst/>
                <a:latin typeface="Times New Roman" panose="02020603050405020304" pitchFamily="18" charset="0"/>
                <a:cs typeface="Times New Roman" panose="02020603050405020304" pitchFamily="18" charset="0"/>
              </a:rPr>
              <a:t>Reliable system, healthy posture.</a:t>
            </a:r>
          </a:p>
          <a:p>
            <a:pPr marL="114300" indent="0" algn="l">
              <a:buNone/>
            </a:pPr>
            <a:endParaRPr lang="en-IN"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8. </a:t>
            </a:r>
            <a:r>
              <a:rPr lang="en-GB" sz="1400" b="1" i="0" dirty="0">
                <a:solidFill>
                  <a:schemeClr val="tx1"/>
                </a:solidFill>
                <a:effectLst/>
                <a:latin typeface="Times New Roman" panose="02020603050405020304" pitchFamily="18" charset="0"/>
                <a:cs typeface="Times New Roman" panose="02020603050405020304" pitchFamily="18" charset="0"/>
              </a:rPr>
              <a:t>Potential for Remote Health Monitoring:</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Scope: </a:t>
            </a:r>
            <a:r>
              <a:rPr lang="en-GB" sz="1400" b="0" i="0" dirty="0">
                <a:solidFill>
                  <a:schemeClr val="tx1"/>
                </a:solidFill>
                <a:effectLst/>
                <a:latin typeface="Times New Roman" panose="02020603050405020304" pitchFamily="18" charset="0"/>
                <a:cs typeface="Times New Roman" panose="02020603050405020304" pitchFamily="18" charset="0"/>
              </a:rPr>
              <a:t>Posture data aids wellness.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Application: </a:t>
            </a:r>
            <a:r>
              <a:rPr lang="en-GB" sz="1400" b="0" i="0" dirty="0">
                <a:solidFill>
                  <a:schemeClr val="tx1"/>
                </a:solidFill>
                <a:effectLst/>
                <a:latin typeface="Times New Roman" panose="02020603050405020304" pitchFamily="18" charset="0"/>
                <a:cs typeface="Times New Roman" panose="02020603050405020304" pitchFamily="18" charset="0"/>
              </a:rPr>
              <a:t>System tracks health metrics.</a:t>
            </a:r>
          </a:p>
          <a:p>
            <a:pPr marL="114300" indent="0" algn="l">
              <a:buNone/>
            </a:pPr>
            <a:endParaRPr lang="en-IN" sz="1400" b="0" i="0" dirty="0">
              <a:solidFill>
                <a:schemeClr val="tx1"/>
              </a:solidFill>
              <a:effectLst/>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16718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82D9C65-4F7B-269F-BCFD-F44FE658D5F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0BE9FA76-C3F8-892D-4B22-9D8D06EE772E}"/>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Scope and Application</a:t>
            </a:r>
            <a:endParaRPr dirty="0"/>
          </a:p>
        </p:txBody>
      </p:sp>
      <p:sp>
        <p:nvSpPr>
          <p:cNvPr id="97" name="Google Shape;97;p2">
            <a:extLst>
              <a:ext uri="{FF2B5EF4-FFF2-40B4-BE49-F238E27FC236}">
                <a16:creationId xmlns:a16="http://schemas.microsoft.com/office/drawing/2014/main" id="{D37FD7F8-66E5-F76A-3510-481E419B39D1}"/>
              </a:ext>
            </a:extLst>
          </p:cNvPr>
          <p:cNvSpPr txBox="1">
            <a:spLocks noGrp="1"/>
          </p:cNvSpPr>
          <p:nvPr>
            <p:ph type="body" idx="1"/>
          </p:nvPr>
        </p:nvSpPr>
        <p:spPr>
          <a:xfrm>
            <a:off x="457200" y="1514168"/>
            <a:ext cx="8229600" cy="4842182"/>
          </a:xfrm>
          <a:prstGeom prst="rect">
            <a:avLst/>
          </a:prstGeom>
          <a:noFill/>
          <a:ln>
            <a:noFill/>
          </a:ln>
        </p:spPr>
        <p:txBody>
          <a:bodyPr spcFirstLastPara="1" wrap="square" lIns="91425" tIns="45700" rIns="91425" bIns="45700" anchor="t" anchorCtr="0">
            <a:normAutofit/>
          </a:bodyPr>
          <a:lstStyle/>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9. </a:t>
            </a:r>
            <a:r>
              <a:rPr lang="en-GB" sz="1400" b="1" i="0" dirty="0">
                <a:solidFill>
                  <a:schemeClr val="tx1"/>
                </a:solidFill>
                <a:effectLst/>
                <a:latin typeface="Times New Roman" panose="02020603050405020304" pitchFamily="18" charset="0"/>
                <a:cs typeface="Times New Roman" panose="02020603050405020304" pitchFamily="18" charset="0"/>
              </a:rPr>
              <a:t>Integration with Existing Work Environments: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Scope: </a:t>
            </a:r>
            <a:r>
              <a:rPr lang="en-GB" sz="1400" b="0" i="0" dirty="0">
                <a:solidFill>
                  <a:schemeClr val="tx1"/>
                </a:solidFill>
                <a:effectLst/>
                <a:latin typeface="Times New Roman" panose="02020603050405020304" pitchFamily="18" charset="0"/>
                <a:cs typeface="Times New Roman" panose="02020603050405020304" pitchFamily="18" charset="0"/>
              </a:rPr>
              <a:t>Seamless integration, diverse workstations.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Application: </a:t>
            </a:r>
            <a:r>
              <a:rPr lang="en-GB" sz="1400" b="0" i="0" dirty="0">
                <a:solidFill>
                  <a:schemeClr val="tx1"/>
                </a:solidFill>
                <a:effectLst/>
                <a:latin typeface="Times New Roman" panose="02020603050405020304" pitchFamily="18" charset="0"/>
                <a:cs typeface="Times New Roman" panose="02020603050405020304" pitchFamily="18" charset="0"/>
              </a:rPr>
              <a:t>Remote work adapts effectively.</a:t>
            </a:r>
          </a:p>
          <a:p>
            <a:pPr marL="114300" indent="0" algn="l">
              <a:buNone/>
            </a:pPr>
            <a:endParaRPr lang="en-GB" sz="1400" b="0" i="0" dirty="0">
              <a:solidFill>
                <a:schemeClr val="tx1"/>
              </a:solidFill>
              <a:effectLst/>
              <a:latin typeface="Times New Roman" panose="02020603050405020304" pitchFamily="18" charset="0"/>
              <a:cs typeface="Times New Roman" panose="02020603050405020304" pitchFamily="18" charset="0"/>
            </a:endParaRP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10. </a:t>
            </a:r>
            <a:r>
              <a:rPr lang="en-GB" sz="1400" b="1" i="0" dirty="0">
                <a:solidFill>
                  <a:schemeClr val="tx1"/>
                </a:solidFill>
                <a:effectLst/>
                <a:latin typeface="Times New Roman" panose="02020603050405020304" pitchFamily="18" charset="0"/>
                <a:cs typeface="Times New Roman" panose="02020603050405020304" pitchFamily="18" charset="0"/>
              </a:rPr>
              <a:t>User-friendly Implementation:</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Scope: </a:t>
            </a:r>
            <a:r>
              <a:rPr lang="en-GB" sz="1400" b="0" i="0" dirty="0">
                <a:solidFill>
                  <a:schemeClr val="tx1"/>
                </a:solidFill>
                <a:effectLst/>
                <a:latin typeface="Times New Roman" panose="02020603050405020304" pitchFamily="18" charset="0"/>
                <a:cs typeface="Times New Roman" panose="02020603050405020304" pitchFamily="18" charset="0"/>
              </a:rPr>
              <a:t>User-friendly posture apps.</a:t>
            </a:r>
          </a:p>
          <a:p>
            <a:pPr marL="114300" indent="0" algn="l">
              <a:buNone/>
            </a:pPr>
            <a:r>
              <a:rPr lang="en-GB" sz="1400" b="0" i="0" dirty="0">
                <a:solidFill>
                  <a:schemeClr val="tx1"/>
                </a:solidFill>
                <a:effectLst/>
                <a:latin typeface="Times New Roman" panose="02020603050405020304" pitchFamily="18" charset="0"/>
                <a:cs typeface="Times New Roman" panose="02020603050405020304" pitchFamily="18" charset="0"/>
              </a:rPr>
              <a:t>    - </a:t>
            </a:r>
            <a:r>
              <a:rPr lang="en-GB" sz="1400" b="1" i="0" dirty="0">
                <a:solidFill>
                  <a:schemeClr val="tx1"/>
                </a:solidFill>
                <a:effectLst/>
                <a:latin typeface="Times New Roman" panose="02020603050405020304" pitchFamily="18" charset="0"/>
                <a:cs typeface="Times New Roman" panose="02020603050405020304" pitchFamily="18" charset="0"/>
              </a:rPr>
              <a:t>Application: </a:t>
            </a:r>
            <a:r>
              <a:rPr lang="en-GB" sz="1400" b="0" i="0" dirty="0">
                <a:solidFill>
                  <a:schemeClr val="tx1"/>
                </a:solidFill>
                <a:effectLst/>
                <a:latin typeface="Times New Roman" panose="02020603050405020304" pitchFamily="18" charset="0"/>
                <a:cs typeface="Times New Roman" panose="02020603050405020304" pitchFamily="18" charset="0"/>
              </a:rPr>
              <a:t>Convenient interaction promotes adoption.</a:t>
            </a:r>
          </a:p>
          <a:p>
            <a:pPr marL="114300" indent="0" algn="l">
              <a:buNone/>
            </a:pPr>
            <a:endParaRPr lang="en-IN" sz="1400" b="0" i="0" dirty="0">
              <a:solidFill>
                <a:schemeClr val="tx1"/>
              </a:solidFill>
              <a:effectLs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B1F374D2-1C8A-3A15-ED72-D6692D96BBD8}"/>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7157EC3C-E8F7-2AA2-7202-4A73F37834C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a:extLst>
              <a:ext uri="{FF2B5EF4-FFF2-40B4-BE49-F238E27FC236}">
                <a16:creationId xmlns:a16="http://schemas.microsoft.com/office/drawing/2014/main" id="{7A3094BD-F3B1-35C8-0F63-8F9871C5B7B3}"/>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668120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r>
              <a:rPr lang="en-IN" b="1" dirty="0">
                <a:solidFill>
                  <a:srgbClr val="000000"/>
                </a:solidFill>
                <a:effectLst/>
                <a:latin typeface="Times New Roman" panose="02020603050405020304" pitchFamily="18" charset="0"/>
              </a:rPr>
              <a:t>Architecture</a:t>
            </a:r>
            <a:endParaRPr lang="en-IN" dirty="0">
              <a:solidFill>
                <a:srgbClr val="000000"/>
              </a:solidFill>
              <a:effectLst/>
              <a:latin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4" name="Picture 3" descr="A diagram of a system&#10;&#10;Description automatically generated">
            <a:extLst>
              <a:ext uri="{FF2B5EF4-FFF2-40B4-BE49-F238E27FC236}">
                <a16:creationId xmlns:a16="http://schemas.microsoft.com/office/drawing/2014/main" id="{949E9A63-E04C-B765-4B36-F5164DA40CD9}"/>
              </a:ext>
            </a:extLst>
          </p:cNvPr>
          <p:cNvPicPr>
            <a:picLocks noChangeAspect="1"/>
          </p:cNvPicPr>
          <p:nvPr/>
        </p:nvPicPr>
        <p:blipFill>
          <a:blip r:embed="rId4"/>
          <a:stretch>
            <a:fillRect/>
          </a:stretch>
        </p:blipFill>
        <p:spPr>
          <a:xfrm>
            <a:off x="1740310" y="1719262"/>
            <a:ext cx="5683045" cy="4003112"/>
          </a:xfrm>
          <a:prstGeom prst="rect">
            <a:avLst/>
          </a:prstGeom>
        </p:spPr>
      </p:pic>
    </p:spTree>
    <p:extLst>
      <p:ext uri="{BB962C8B-B14F-4D97-AF65-F5344CB8AC3E}">
        <p14:creationId xmlns:p14="http://schemas.microsoft.com/office/powerpoint/2010/main" val="10243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Proposed Modules</a:t>
            </a:r>
            <a:endParaRPr dirty="0"/>
          </a:p>
        </p:txBody>
      </p:sp>
      <p:sp>
        <p:nvSpPr>
          <p:cNvPr id="97" name="Google Shape;97;p2"/>
          <p:cNvSpPr txBox="1">
            <a:spLocks noGrp="1"/>
          </p:cNvSpPr>
          <p:nvPr>
            <p:ph type="body" idx="1"/>
          </p:nvPr>
        </p:nvSpPr>
        <p:spPr>
          <a:xfrm>
            <a:off x="457200" y="1417638"/>
            <a:ext cx="8229600" cy="4829442"/>
          </a:xfrm>
          <a:prstGeom prst="rect">
            <a:avLst/>
          </a:prstGeom>
          <a:noFill/>
          <a:ln>
            <a:noFill/>
          </a:ln>
        </p:spPr>
        <p:txBody>
          <a:bodyPr spcFirstLastPara="1" wrap="square" lIns="91425" tIns="45700" rIns="91425" bIns="45700" anchor="t" anchorCtr="0">
            <a:normAutofit/>
          </a:bodyPr>
          <a:lstStyle/>
          <a:p>
            <a:pPr marL="114300" indent="0" algn="just">
              <a:buNone/>
            </a:pPr>
            <a:r>
              <a:rPr lang="en-GB" sz="1400" dirty="0">
                <a:effectLst/>
                <a:latin typeface="Times New Roman" panose="02020603050405020304" pitchFamily="18" charset="0"/>
                <a:cs typeface="Times New Roman" panose="02020603050405020304" pitchFamily="18" charset="0"/>
              </a:rPr>
              <a:t>1. </a:t>
            </a:r>
            <a:r>
              <a:rPr lang="en-GB" sz="1400" b="1" dirty="0">
                <a:effectLst/>
                <a:latin typeface="Times New Roman" panose="02020603050405020304" pitchFamily="18" charset="0"/>
                <a:cs typeface="Times New Roman" panose="02020603050405020304" pitchFamily="18" charset="0"/>
              </a:rPr>
              <a:t>Data Acquisition Module:</a:t>
            </a:r>
          </a:p>
          <a:p>
            <a:pPr marL="114300" indent="0" algn="just">
              <a:buNone/>
            </a:pPr>
            <a:r>
              <a:rPr lang="en-GB" sz="1400" dirty="0">
                <a:effectLst/>
                <a:latin typeface="Times New Roman" panose="02020603050405020304" pitchFamily="18" charset="0"/>
                <a:cs typeface="Times New Roman" panose="02020603050405020304" pitchFamily="18" charset="0"/>
              </a:rPr>
              <a:t>   - Collects real-time posture data.</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2. </a:t>
            </a:r>
            <a:r>
              <a:rPr lang="en-GB" sz="1400" b="1" dirty="0">
                <a:effectLst/>
                <a:latin typeface="Times New Roman" panose="02020603050405020304" pitchFamily="18" charset="0"/>
                <a:cs typeface="Times New Roman" panose="02020603050405020304" pitchFamily="18" charset="0"/>
              </a:rPr>
              <a:t>Specialized Hardware Integration:</a:t>
            </a:r>
          </a:p>
          <a:p>
            <a:pPr marL="114300" indent="0" algn="just">
              <a:buNone/>
            </a:pPr>
            <a:r>
              <a:rPr lang="en-GB" sz="1400" dirty="0">
                <a:effectLst/>
                <a:latin typeface="Times New Roman" panose="02020603050405020304" pitchFamily="18" charset="0"/>
                <a:cs typeface="Times New Roman" panose="02020603050405020304" pitchFamily="18" charset="0"/>
              </a:rPr>
              <a:t>   - Hardware manages posture seamlessly.</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3. </a:t>
            </a:r>
            <a:r>
              <a:rPr lang="en-GB" sz="1400" b="1" dirty="0">
                <a:effectLst/>
                <a:latin typeface="Times New Roman" panose="02020603050405020304" pitchFamily="18" charset="0"/>
                <a:cs typeface="Times New Roman" panose="02020603050405020304" pitchFamily="18" charset="0"/>
              </a:rPr>
              <a:t>Convolutional Neural Network (CNN) Implementation:</a:t>
            </a:r>
          </a:p>
          <a:p>
            <a:pPr marL="114300" indent="0" algn="just">
              <a:buNone/>
            </a:pPr>
            <a:r>
              <a:rPr lang="en-GB" sz="1400" dirty="0">
                <a:effectLst/>
                <a:latin typeface="Times New Roman" panose="02020603050405020304" pitchFamily="18" charset="0"/>
                <a:cs typeface="Times New Roman" panose="02020603050405020304" pitchFamily="18" charset="0"/>
              </a:rPr>
              <a:t>   - CNN algorithm detects postures.</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4. </a:t>
            </a:r>
            <a:r>
              <a:rPr lang="en-GB" sz="1400" b="1" dirty="0">
                <a:effectLst/>
                <a:latin typeface="Times New Roman" panose="02020603050405020304" pitchFamily="18" charset="0"/>
                <a:cs typeface="Times New Roman" panose="02020603050405020304" pitchFamily="18" charset="0"/>
              </a:rPr>
              <a:t>Real-time Video Processing Module:</a:t>
            </a:r>
          </a:p>
          <a:p>
            <a:pPr marL="114300" indent="0" algn="just">
              <a:buNone/>
            </a:pPr>
            <a:r>
              <a:rPr lang="en-GB" sz="1400" dirty="0">
                <a:effectLst/>
                <a:latin typeface="Times New Roman" panose="02020603050405020304" pitchFamily="18" charset="0"/>
                <a:cs typeface="Times New Roman" panose="02020603050405020304" pitchFamily="18" charset="0"/>
              </a:rPr>
              <a:t>   - Fast video feedback: 25fps.</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5. </a:t>
            </a:r>
            <a:r>
              <a:rPr lang="en-GB" sz="1400" b="1" dirty="0">
                <a:effectLst/>
                <a:latin typeface="Times New Roman" panose="02020603050405020304" pitchFamily="18" charset="0"/>
                <a:cs typeface="Times New Roman" panose="02020603050405020304" pitchFamily="18" charset="0"/>
              </a:rPr>
              <a:t>Posture Analysis and Classification:</a:t>
            </a:r>
          </a:p>
          <a:p>
            <a:pPr marL="114300" indent="0" algn="just">
              <a:buNone/>
            </a:pPr>
            <a:r>
              <a:rPr lang="en-GB" sz="1400" dirty="0">
                <a:effectLst/>
                <a:latin typeface="Times New Roman" panose="02020603050405020304" pitchFamily="18" charset="0"/>
                <a:cs typeface="Times New Roman" panose="02020603050405020304" pitchFamily="18" charset="0"/>
              </a:rPr>
              <a:t>   - </a:t>
            </a:r>
            <a:r>
              <a:rPr lang="en-GB" sz="1400" dirty="0" err="1">
                <a:effectLst/>
                <a:latin typeface="Times New Roman" panose="02020603050405020304" pitchFamily="18" charset="0"/>
                <a:cs typeface="Times New Roman" panose="02020603050405020304" pitchFamily="18" charset="0"/>
              </a:rPr>
              <a:t>Analyze</a:t>
            </a:r>
            <a:r>
              <a:rPr lang="en-GB" sz="1400" dirty="0">
                <a:effectLst/>
                <a:latin typeface="Times New Roman" panose="02020603050405020304" pitchFamily="18" charset="0"/>
                <a:cs typeface="Times New Roman" panose="02020603050405020304" pitchFamily="18" charset="0"/>
              </a:rPr>
              <a:t> video for posture.</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6. </a:t>
            </a:r>
            <a:r>
              <a:rPr lang="en-GB" sz="1400" b="1" dirty="0">
                <a:effectLst/>
                <a:latin typeface="Times New Roman" panose="02020603050405020304" pitchFamily="18" charset="0"/>
                <a:cs typeface="Times New Roman" panose="02020603050405020304" pitchFamily="18" charset="0"/>
              </a:rPr>
              <a:t>User Feedback and Recommendations:</a:t>
            </a:r>
          </a:p>
          <a:p>
            <a:pPr marL="114300" indent="0" algn="just">
              <a:buNone/>
            </a:pPr>
            <a:r>
              <a:rPr lang="en-GB" sz="1400" dirty="0">
                <a:effectLst/>
                <a:latin typeface="Times New Roman" panose="02020603050405020304" pitchFamily="18" charset="0"/>
                <a:cs typeface="Times New Roman" panose="02020603050405020304" pitchFamily="18" charset="0"/>
              </a:rPr>
              <a:t>   - Personalized posture advice prevents issues.</a:t>
            </a:r>
          </a:p>
          <a:p>
            <a:pPr marL="114300" indent="0" algn="just">
              <a:buNone/>
            </a:pPr>
            <a:endParaRPr lang="en-GB" sz="1400" dirty="0">
              <a:effectLst/>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116143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569B818-A3A9-97F2-41A1-BEE0B5EC0AA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B5D362F5-45F4-F9D6-EE78-EA1BF9A1F76C}"/>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Proposed Modules</a:t>
            </a:r>
            <a:endParaRPr dirty="0"/>
          </a:p>
        </p:txBody>
      </p:sp>
      <p:sp>
        <p:nvSpPr>
          <p:cNvPr id="97" name="Google Shape;97;p2">
            <a:extLst>
              <a:ext uri="{FF2B5EF4-FFF2-40B4-BE49-F238E27FC236}">
                <a16:creationId xmlns:a16="http://schemas.microsoft.com/office/drawing/2014/main" id="{80ADD640-0F44-CF57-9717-965CB1B35016}"/>
              </a:ext>
            </a:extLst>
          </p:cNvPr>
          <p:cNvSpPr txBox="1">
            <a:spLocks noGrp="1"/>
          </p:cNvSpPr>
          <p:nvPr>
            <p:ph type="body" idx="1"/>
          </p:nvPr>
        </p:nvSpPr>
        <p:spPr>
          <a:xfrm>
            <a:off x="457200" y="1417638"/>
            <a:ext cx="8229600" cy="4938711"/>
          </a:xfrm>
          <a:prstGeom prst="rect">
            <a:avLst/>
          </a:prstGeom>
          <a:noFill/>
          <a:ln>
            <a:noFill/>
          </a:ln>
        </p:spPr>
        <p:txBody>
          <a:bodyPr spcFirstLastPara="1" wrap="square" lIns="91425" tIns="45700" rIns="91425" bIns="45700" anchor="t" anchorCtr="0">
            <a:normAutofit/>
          </a:bodyPr>
          <a:lstStyle/>
          <a:p>
            <a:pPr marL="114300" indent="0" algn="just">
              <a:buNone/>
            </a:pPr>
            <a:r>
              <a:rPr lang="en-GB" sz="1400" dirty="0">
                <a:effectLst/>
                <a:latin typeface="Times New Roman" panose="02020603050405020304" pitchFamily="18" charset="0"/>
                <a:cs typeface="Times New Roman" panose="02020603050405020304" pitchFamily="18" charset="0"/>
              </a:rPr>
              <a:t>7. </a:t>
            </a:r>
            <a:r>
              <a:rPr lang="en-GB" sz="1400" b="1" dirty="0">
                <a:effectLst/>
                <a:latin typeface="Times New Roman" panose="02020603050405020304" pitchFamily="18" charset="0"/>
                <a:cs typeface="Times New Roman" panose="02020603050405020304" pitchFamily="18" charset="0"/>
              </a:rPr>
              <a:t>Power Management Module:</a:t>
            </a:r>
          </a:p>
          <a:p>
            <a:pPr marL="114300" indent="0" algn="just">
              <a:buNone/>
            </a:pPr>
            <a:r>
              <a:rPr lang="en-GB" sz="1400" dirty="0">
                <a:effectLst/>
                <a:latin typeface="Times New Roman" panose="02020603050405020304" pitchFamily="18" charset="0"/>
                <a:cs typeface="Times New Roman" panose="02020603050405020304" pitchFamily="18" charset="0"/>
              </a:rPr>
              <a:t>   - Optimizes power for efficiency.</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8. </a:t>
            </a:r>
            <a:r>
              <a:rPr lang="en-GB" sz="1400" b="1" dirty="0">
                <a:effectLst/>
                <a:latin typeface="Times New Roman" panose="02020603050405020304" pitchFamily="18" charset="0"/>
                <a:cs typeface="Times New Roman" panose="02020603050405020304" pitchFamily="18" charset="0"/>
              </a:rPr>
              <a:t>User Interface Development:</a:t>
            </a:r>
          </a:p>
          <a:p>
            <a:pPr marL="114300" indent="0" algn="just">
              <a:buNone/>
            </a:pPr>
            <a:r>
              <a:rPr lang="en-GB" sz="1400" dirty="0">
                <a:effectLst/>
                <a:latin typeface="Times New Roman" panose="02020603050405020304" pitchFamily="18" charset="0"/>
                <a:cs typeface="Times New Roman" panose="02020603050405020304" pitchFamily="18" charset="0"/>
              </a:rPr>
              <a:t>   - User-friendly interface designs: desktop app.</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9. </a:t>
            </a:r>
            <a:r>
              <a:rPr lang="en-GB" sz="1400" b="1" dirty="0">
                <a:effectLst/>
                <a:latin typeface="Times New Roman" panose="02020603050405020304" pitchFamily="18" charset="0"/>
                <a:cs typeface="Times New Roman" panose="02020603050405020304" pitchFamily="18" charset="0"/>
              </a:rPr>
              <a:t>Continuous Learning Algorithm:</a:t>
            </a:r>
          </a:p>
          <a:p>
            <a:pPr marL="114300" indent="0" algn="just">
              <a:buNone/>
            </a:pPr>
            <a:r>
              <a:rPr lang="en-GB" sz="1400" dirty="0">
                <a:effectLst/>
                <a:latin typeface="Times New Roman" panose="02020603050405020304" pitchFamily="18" charset="0"/>
                <a:cs typeface="Times New Roman" panose="02020603050405020304" pitchFamily="18" charset="0"/>
              </a:rPr>
              <a:t>   - Continuous learning algorithm enhances personalization.</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10. </a:t>
            </a:r>
            <a:r>
              <a:rPr lang="en-GB" sz="1400" b="1" dirty="0">
                <a:effectLst/>
                <a:latin typeface="Times New Roman" panose="02020603050405020304" pitchFamily="18" charset="0"/>
                <a:cs typeface="Times New Roman" panose="02020603050405020304" pitchFamily="18" charset="0"/>
              </a:rPr>
              <a:t>Privacy and Security Module:</a:t>
            </a:r>
          </a:p>
          <a:p>
            <a:pPr marL="114300" indent="0" algn="just">
              <a:buNone/>
            </a:pPr>
            <a:r>
              <a:rPr lang="en-GB" sz="1400" dirty="0">
                <a:effectLst/>
                <a:latin typeface="Times New Roman" panose="02020603050405020304" pitchFamily="18" charset="0"/>
                <a:cs typeface="Times New Roman" panose="02020603050405020304" pitchFamily="18" charset="0"/>
              </a:rPr>
              <a:t>    - Privacy, security ensured.</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11. </a:t>
            </a:r>
            <a:r>
              <a:rPr lang="en-GB" sz="1400" b="1" dirty="0">
                <a:effectLst/>
                <a:latin typeface="Times New Roman" panose="02020603050405020304" pitchFamily="18" charset="0"/>
                <a:cs typeface="Times New Roman" panose="02020603050405020304" pitchFamily="18" charset="0"/>
              </a:rPr>
              <a:t>Remote Monitoring and Analytics:</a:t>
            </a:r>
          </a:p>
          <a:p>
            <a:pPr marL="114300" indent="0" algn="just">
              <a:buNone/>
            </a:pPr>
            <a:r>
              <a:rPr lang="en-GB" sz="1400" dirty="0">
                <a:effectLst/>
                <a:latin typeface="Times New Roman" panose="02020603050405020304" pitchFamily="18" charset="0"/>
                <a:cs typeface="Times New Roman" panose="02020603050405020304" pitchFamily="18" charset="0"/>
              </a:rPr>
              <a:t>    - Remote monitoring aids intervention.</a:t>
            </a:r>
          </a:p>
          <a:p>
            <a:pPr marL="114300" indent="0" algn="just">
              <a:buNone/>
            </a:pPr>
            <a:endParaRPr lang="en-GB" sz="1400" dirty="0">
              <a:effectLst/>
              <a:latin typeface="Times New Roman" panose="02020603050405020304" pitchFamily="18" charset="0"/>
              <a:cs typeface="Times New Roman" panose="02020603050405020304" pitchFamily="18" charset="0"/>
            </a:endParaRPr>
          </a:p>
          <a:p>
            <a:pPr marL="114300" indent="0" algn="just">
              <a:buNone/>
            </a:pPr>
            <a:r>
              <a:rPr lang="en-GB" sz="1400" dirty="0">
                <a:effectLst/>
                <a:latin typeface="Times New Roman" panose="02020603050405020304" pitchFamily="18" charset="0"/>
                <a:cs typeface="Times New Roman" panose="02020603050405020304" pitchFamily="18" charset="0"/>
              </a:rPr>
              <a:t>12. </a:t>
            </a:r>
            <a:r>
              <a:rPr lang="en-GB" sz="1400" b="1" dirty="0">
                <a:effectLst/>
                <a:latin typeface="Times New Roman" panose="02020603050405020304" pitchFamily="18" charset="0"/>
                <a:cs typeface="Times New Roman" panose="02020603050405020304" pitchFamily="18" charset="0"/>
              </a:rPr>
              <a:t>Long-Term Impact Assessment Module:</a:t>
            </a:r>
          </a:p>
          <a:p>
            <a:pPr marL="114300" indent="0" algn="just">
              <a:buNone/>
            </a:pPr>
            <a:r>
              <a:rPr lang="en-GB" sz="1400" dirty="0">
                <a:effectLst/>
                <a:latin typeface="Times New Roman" panose="02020603050405020304" pitchFamily="18" charset="0"/>
                <a:cs typeface="Times New Roman" panose="02020603050405020304" pitchFamily="18" charset="0"/>
              </a:rPr>
              <a:t>    - Assess long-term impact.</a:t>
            </a:r>
            <a:endParaRPr lang="en-IN" sz="1400" dirty="0">
              <a:effectLst/>
              <a:latin typeface="Times New Roman" panose="02020603050405020304" pitchFamily="18" charset="0"/>
              <a:cs typeface="Times New Roman" panose="02020603050405020304" pitchFamily="18" charset="0"/>
            </a:endParaRPr>
          </a:p>
          <a:p>
            <a:pPr marL="114300" indent="0" algn="just">
              <a:buNone/>
            </a:pPr>
            <a:endParaRPr lang="en-IN" sz="1400" dirty="0">
              <a:effectLs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BBB67E6E-8702-D891-0AC7-74992FFF61AF}"/>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5191C769-6300-5905-7114-D63AD72D1BB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a:extLst>
              <a:ext uri="{FF2B5EF4-FFF2-40B4-BE49-F238E27FC236}">
                <a16:creationId xmlns:a16="http://schemas.microsoft.com/office/drawing/2014/main" id="{232C6590-60A5-0697-6F04-AB00C2B0F8F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27961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Algorithm Description</a:t>
            </a:r>
          </a:p>
        </p:txBody>
      </p:sp>
      <p:sp>
        <p:nvSpPr>
          <p:cNvPr id="97" name="Google Shape;97;p2"/>
          <p:cNvSpPr txBox="1">
            <a:spLocks noGrp="1"/>
          </p:cNvSpPr>
          <p:nvPr>
            <p:ph type="body" idx="1"/>
          </p:nvPr>
        </p:nvSpPr>
        <p:spPr>
          <a:xfrm>
            <a:off x="457200" y="1417638"/>
            <a:ext cx="8229600" cy="4938712"/>
          </a:xfrm>
          <a:prstGeom prst="rect">
            <a:avLst/>
          </a:prstGeom>
          <a:noFill/>
          <a:ln>
            <a:noFill/>
          </a:ln>
        </p:spPr>
        <p:txBody>
          <a:bodyPr spcFirstLastPara="1" wrap="square" lIns="91425" tIns="45700" rIns="91425" bIns="45700" anchor="t" anchorCtr="0">
            <a:normAutofit/>
          </a:bodyPr>
          <a:lstStyle/>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1. </a:t>
            </a:r>
            <a:r>
              <a:rPr lang="en-GB" sz="1400" b="1" dirty="0">
                <a:solidFill>
                  <a:srgbClr val="000000"/>
                </a:solidFill>
                <a:effectLst/>
                <a:latin typeface="Times New Roman" panose="02020603050405020304" pitchFamily="18" charset="0"/>
                <a:cs typeface="Times New Roman" panose="02020603050405020304" pitchFamily="18" charset="0"/>
              </a:rPr>
              <a:t>Data Acquisition:</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Video data: neck, shoulders.</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2. </a:t>
            </a:r>
            <a:r>
              <a:rPr lang="en-GB" sz="1400" b="1" dirty="0">
                <a:solidFill>
                  <a:srgbClr val="000000"/>
                </a:solidFill>
                <a:effectLst/>
                <a:latin typeface="Times New Roman" panose="02020603050405020304" pitchFamily="18" charset="0"/>
                <a:cs typeface="Times New Roman" panose="02020603050405020304" pitchFamily="18" charset="0"/>
              </a:rPr>
              <a:t>Preprocessing:</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Enhance video quality: preprocessing.</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3. </a:t>
            </a:r>
            <a:r>
              <a:rPr lang="en-GB" sz="1400" b="1" dirty="0">
                <a:solidFill>
                  <a:srgbClr val="000000"/>
                </a:solidFill>
                <a:effectLst/>
                <a:latin typeface="Times New Roman" panose="02020603050405020304" pitchFamily="18" charset="0"/>
                <a:cs typeface="Times New Roman" panose="02020603050405020304" pitchFamily="18" charset="0"/>
              </a:rPr>
              <a:t>Frame Segmentation:</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Stream split, </a:t>
            </a:r>
            <a:r>
              <a:rPr lang="en-GB" sz="1400" dirty="0" err="1">
                <a:solidFill>
                  <a:srgbClr val="000000"/>
                </a:solidFill>
                <a:effectLst/>
                <a:latin typeface="Times New Roman" panose="02020603050405020304" pitchFamily="18" charset="0"/>
                <a:cs typeface="Times New Roman" panose="02020603050405020304" pitchFamily="18" charset="0"/>
              </a:rPr>
              <a:t>analyze</a:t>
            </a:r>
            <a:r>
              <a:rPr lang="en-GB" sz="1400" dirty="0">
                <a:solidFill>
                  <a:srgbClr val="000000"/>
                </a:solidFill>
                <a:effectLst/>
                <a:latin typeface="Times New Roman" panose="02020603050405020304" pitchFamily="18" charset="0"/>
                <a:cs typeface="Times New Roman" panose="02020603050405020304" pitchFamily="18" charset="0"/>
              </a:rPr>
              <a:t> frames.</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4. </a:t>
            </a:r>
            <a:r>
              <a:rPr lang="en-GB" sz="1400" b="1" dirty="0">
                <a:solidFill>
                  <a:srgbClr val="000000"/>
                </a:solidFill>
                <a:effectLst/>
                <a:latin typeface="Times New Roman" panose="02020603050405020304" pitchFamily="18" charset="0"/>
                <a:cs typeface="Times New Roman" panose="02020603050405020304" pitchFamily="18" charset="0"/>
              </a:rPr>
              <a:t>Specialized Hardware Initialization:</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Hardware sync, initialize.</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5. </a:t>
            </a:r>
            <a:r>
              <a:rPr lang="en-GB" sz="1400" b="1" dirty="0">
                <a:solidFill>
                  <a:srgbClr val="000000"/>
                </a:solidFill>
                <a:effectLst/>
                <a:latin typeface="Times New Roman" panose="02020603050405020304" pitchFamily="18" charset="0"/>
                <a:cs typeface="Times New Roman" panose="02020603050405020304" pitchFamily="18" charset="0"/>
              </a:rPr>
              <a:t>Convolutional Neural Network (CNN) Loading:</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Load posture detection model.</a:t>
            </a:r>
          </a:p>
          <a:p>
            <a:pPr marL="114300" indent="0">
              <a:buNone/>
            </a:pPr>
            <a:endParaRPr lang="en-GB" sz="1400" dirty="0">
              <a:solidFill>
                <a:srgbClr val="000000"/>
              </a:solidFill>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6. </a:t>
            </a:r>
            <a:r>
              <a:rPr lang="en-GB" sz="1400" b="1" dirty="0">
                <a:solidFill>
                  <a:srgbClr val="000000"/>
                </a:solidFill>
                <a:effectLst/>
                <a:latin typeface="Times New Roman" panose="02020603050405020304" pitchFamily="18" charset="0"/>
                <a:cs typeface="Times New Roman" panose="02020603050405020304" pitchFamily="18" charset="0"/>
              </a:rPr>
              <a:t>Real-time Video Processing:</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Real-time posture feedback: 25fps.</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626857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D85CA56-E0E9-DD91-ACA5-06395010631A}"/>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FC240C3-4368-D136-FF3F-3C98A8E0EDE6}"/>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Algorithm Description</a:t>
            </a:r>
          </a:p>
        </p:txBody>
      </p:sp>
      <p:sp>
        <p:nvSpPr>
          <p:cNvPr id="97" name="Google Shape;97;p2">
            <a:extLst>
              <a:ext uri="{FF2B5EF4-FFF2-40B4-BE49-F238E27FC236}">
                <a16:creationId xmlns:a16="http://schemas.microsoft.com/office/drawing/2014/main" id="{EE0E6711-EDFB-E698-AA89-95D576C1CF65}"/>
              </a:ext>
            </a:extLst>
          </p:cNvPr>
          <p:cNvSpPr txBox="1">
            <a:spLocks noGrp="1"/>
          </p:cNvSpPr>
          <p:nvPr>
            <p:ph type="body" idx="1"/>
          </p:nvPr>
        </p:nvSpPr>
        <p:spPr>
          <a:xfrm>
            <a:off x="457200" y="1417638"/>
            <a:ext cx="8229600" cy="4887009"/>
          </a:xfrm>
          <a:prstGeom prst="rect">
            <a:avLst/>
          </a:prstGeom>
          <a:noFill/>
          <a:ln>
            <a:noFill/>
          </a:ln>
        </p:spPr>
        <p:txBody>
          <a:bodyPr spcFirstLastPara="1" wrap="square" lIns="91425" tIns="45700" rIns="91425" bIns="45700" anchor="t" anchorCtr="0">
            <a:normAutofit/>
          </a:bodyPr>
          <a:lstStyle/>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7. </a:t>
            </a:r>
            <a:r>
              <a:rPr lang="en-GB" sz="1400" b="1" dirty="0">
                <a:solidFill>
                  <a:srgbClr val="000000"/>
                </a:solidFill>
                <a:effectLst/>
                <a:latin typeface="Times New Roman" panose="02020603050405020304" pitchFamily="18" charset="0"/>
                <a:cs typeface="Times New Roman" panose="02020603050405020304" pitchFamily="18" charset="0"/>
              </a:rPr>
              <a:t>Posture Identification:</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CNN classifies posture.</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8. </a:t>
            </a:r>
            <a:r>
              <a:rPr lang="en-GB" sz="1400" b="1" dirty="0">
                <a:solidFill>
                  <a:srgbClr val="000000"/>
                </a:solidFill>
                <a:effectLst/>
                <a:latin typeface="Times New Roman" panose="02020603050405020304" pitchFamily="18" charset="0"/>
                <a:cs typeface="Times New Roman" panose="02020603050405020304" pitchFamily="18" charset="0"/>
              </a:rPr>
              <a:t>Accuracy Assessment:</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Evaluate the accuracy of posture detection by comparing the CNN predictions with ground truth data from </a:t>
            </a:r>
            <a:r>
              <a:rPr lang="en-GB" sz="1400" dirty="0" err="1">
                <a:solidFill>
                  <a:srgbClr val="000000"/>
                </a:solidFill>
                <a:effectLst/>
                <a:latin typeface="Times New Roman" panose="02020603050405020304" pitchFamily="18" charset="0"/>
                <a:cs typeface="Times New Roman" panose="02020603050405020304" pitchFamily="18" charset="0"/>
              </a:rPr>
              <a:t>labeled</a:t>
            </a:r>
            <a:r>
              <a:rPr lang="en-GB" sz="1400" dirty="0">
                <a:solidFill>
                  <a:srgbClr val="000000"/>
                </a:solidFill>
                <a:effectLst/>
                <a:latin typeface="Times New Roman" panose="02020603050405020304" pitchFamily="18" charset="0"/>
                <a:cs typeface="Times New Roman" panose="02020603050405020304" pitchFamily="18" charset="0"/>
              </a:rPr>
              <a:t> frames in the training dataset.</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9. </a:t>
            </a:r>
            <a:r>
              <a:rPr lang="en-GB" sz="1400" b="1" dirty="0">
                <a:solidFill>
                  <a:srgbClr val="000000"/>
                </a:solidFill>
                <a:effectLst/>
                <a:latin typeface="Times New Roman" panose="02020603050405020304" pitchFamily="18" charset="0"/>
                <a:cs typeface="Times New Roman" panose="02020603050405020304" pitchFamily="18" charset="0"/>
              </a:rPr>
              <a:t>Recommendation Generation:</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Customized posture advice.</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10. </a:t>
            </a:r>
            <a:r>
              <a:rPr lang="en-GB" sz="1400" b="1" dirty="0">
                <a:solidFill>
                  <a:srgbClr val="000000"/>
                </a:solidFill>
                <a:effectLst/>
                <a:latin typeface="Times New Roman" panose="02020603050405020304" pitchFamily="18" charset="0"/>
                <a:cs typeface="Times New Roman" panose="02020603050405020304" pitchFamily="18" charset="0"/>
              </a:rPr>
              <a:t>Power Consumption Monitoring:</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Monitor for efficiency.</a:t>
            </a:r>
          </a:p>
          <a:p>
            <a:pPr marL="114300" indent="0">
              <a:buNone/>
            </a:pPr>
            <a:endParaRPr lang="en-IN"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11. </a:t>
            </a:r>
            <a:r>
              <a:rPr lang="en-GB" sz="1400" b="1" dirty="0">
                <a:solidFill>
                  <a:srgbClr val="000000"/>
                </a:solidFill>
                <a:effectLst/>
                <a:latin typeface="Times New Roman" panose="02020603050405020304" pitchFamily="18" charset="0"/>
                <a:cs typeface="Times New Roman" panose="02020603050405020304" pitchFamily="18" charset="0"/>
              </a:rPr>
              <a:t>User Interface Update:</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Interface update: real-time feedback.</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12. </a:t>
            </a:r>
            <a:r>
              <a:rPr lang="en-GB" sz="1400" b="1" dirty="0">
                <a:solidFill>
                  <a:srgbClr val="000000"/>
                </a:solidFill>
                <a:effectLst/>
                <a:latin typeface="Times New Roman" panose="02020603050405020304" pitchFamily="18" charset="0"/>
                <a:cs typeface="Times New Roman" panose="02020603050405020304" pitchFamily="18" charset="0"/>
              </a:rPr>
              <a:t>Continuous Learning Mechanism:</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Algorithms adapt, improve posture.</a:t>
            </a:r>
          </a:p>
          <a:p>
            <a:pPr marL="114300" indent="0">
              <a:buNone/>
            </a:pPr>
            <a:endParaRPr lang="en-IN" sz="1400" dirty="0">
              <a:solidFill>
                <a:srgbClr val="000000"/>
              </a:solidFill>
              <a:effectLs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65166727-C490-5092-FE9F-9F8E1F022816}"/>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32D8B19F-A25F-61A7-C4E0-80467B87841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a:extLst>
              <a:ext uri="{FF2B5EF4-FFF2-40B4-BE49-F238E27FC236}">
                <a16:creationId xmlns:a16="http://schemas.microsoft.com/office/drawing/2014/main" id="{8B73B6BA-5112-D44C-99FE-1B9B78E9102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252126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864EC4D-1CF0-A7B9-464E-2E5C0592EC0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93C80D03-49AF-F08B-38EA-F7C1CB6A1728}"/>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Algorithm Description</a:t>
            </a:r>
          </a:p>
        </p:txBody>
      </p:sp>
      <p:sp>
        <p:nvSpPr>
          <p:cNvPr id="97" name="Google Shape;97;p2">
            <a:extLst>
              <a:ext uri="{FF2B5EF4-FFF2-40B4-BE49-F238E27FC236}">
                <a16:creationId xmlns:a16="http://schemas.microsoft.com/office/drawing/2014/main" id="{9BD0FB20-F984-6570-3E5E-AB455457D569}"/>
              </a:ext>
            </a:extLst>
          </p:cNvPr>
          <p:cNvSpPr txBox="1">
            <a:spLocks noGrp="1"/>
          </p:cNvSpPr>
          <p:nvPr>
            <p:ph type="body" idx="1"/>
          </p:nvPr>
        </p:nvSpPr>
        <p:spPr>
          <a:xfrm>
            <a:off x="457200" y="1417638"/>
            <a:ext cx="8229600" cy="4887009"/>
          </a:xfrm>
          <a:prstGeom prst="rect">
            <a:avLst/>
          </a:prstGeom>
          <a:noFill/>
          <a:ln>
            <a:noFill/>
          </a:ln>
        </p:spPr>
        <p:txBody>
          <a:bodyPr spcFirstLastPara="1" wrap="square" lIns="91425" tIns="45700" rIns="91425" bIns="45700" anchor="t" anchorCtr="0">
            <a:normAutofit/>
          </a:bodyPr>
          <a:lstStyle/>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13. </a:t>
            </a:r>
            <a:r>
              <a:rPr lang="en-GB" sz="1400" b="1" dirty="0">
                <a:solidFill>
                  <a:srgbClr val="000000"/>
                </a:solidFill>
                <a:effectLst/>
                <a:latin typeface="Times New Roman" panose="02020603050405020304" pitchFamily="18" charset="0"/>
                <a:cs typeface="Times New Roman" panose="02020603050405020304" pitchFamily="18" charset="0"/>
              </a:rPr>
              <a:t>Privacy Measures:</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Encrypt data, protect privacy.</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14. </a:t>
            </a:r>
            <a:r>
              <a:rPr lang="en-GB" sz="1400" b="1" dirty="0">
                <a:solidFill>
                  <a:srgbClr val="000000"/>
                </a:solidFill>
                <a:effectLst/>
                <a:latin typeface="Times New Roman" panose="02020603050405020304" pitchFamily="18" charset="0"/>
                <a:cs typeface="Times New Roman" panose="02020603050405020304" pitchFamily="18" charset="0"/>
              </a:rPr>
              <a:t>Remote Monitoring Integration:</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Remote monitoring enables intervention.</a:t>
            </a:r>
          </a:p>
          <a:p>
            <a:pPr marL="114300" indent="0">
              <a:buNone/>
            </a:pPr>
            <a:endParaRPr lang="en-GB"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15. </a:t>
            </a:r>
            <a:r>
              <a:rPr lang="en-GB" sz="1400" b="1" dirty="0">
                <a:solidFill>
                  <a:srgbClr val="000000"/>
                </a:solidFill>
                <a:effectLst/>
                <a:latin typeface="Times New Roman" panose="02020603050405020304" pitchFamily="18" charset="0"/>
                <a:cs typeface="Times New Roman" panose="02020603050405020304" pitchFamily="18" charset="0"/>
              </a:rPr>
              <a:t>Long-Term Impact Assessment:</a:t>
            </a:r>
          </a:p>
          <a:p>
            <a:pPr marL="114300" indent="0">
              <a:buNone/>
            </a:pPr>
            <a:r>
              <a:rPr lang="en-GB" sz="1400" dirty="0">
                <a:solidFill>
                  <a:srgbClr val="000000"/>
                </a:solidFill>
                <a:effectLst/>
                <a:latin typeface="Times New Roman" panose="02020603050405020304" pitchFamily="18" charset="0"/>
                <a:cs typeface="Times New Roman" panose="02020603050405020304" pitchFamily="18" charset="0"/>
              </a:rPr>
              <a:t>    - Algorithm assesses health trends.</a:t>
            </a:r>
            <a:endParaRPr lang="en-IN" sz="1400" dirty="0">
              <a:solidFill>
                <a:srgbClr val="000000"/>
              </a:solidFill>
              <a:effectLst/>
              <a:latin typeface="Times New Roman" panose="02020603050405020304" pitchFamily="18" charset="0"/>
              <a:cs typeface="Times New Roman" panose="02020603050405020304" pitchFamily="18" charset="0"/>
            </a:endParaRPr>
          </a:p>
          <a:p>
            <a:pPr marL="114300" indent="0">
              <a:buNone/>
            </a:pPr>
            <a:endParaRPr lang="en-IN" sz="1400" dirty="0">
              <a:solidFill>
                <a:srgbClr val="000000"/>
              </a:solidFill>
              <a:effectLs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4E302A54-A337-0B82-11E7-CF89C754ED9C}"/>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C001C19B-EBA0-DD44-4FC2-8491D71D2F35}"/>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1" name="Google Shape;101;p2">
            <a:extLst>
              <a:ext uri="{FF2B5EF4-FFF2-40B4-BE49-F238E27FC236}">
                <a16:creationId xmlns:a16="http://schemas.microsoft.com/office/drawing/2014/main" id="{60E1D96C-AF03-4C8F-35F2-5193471CCF2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974927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OUTPUT</a:t>
            </a:r>
          </a:p>
        </p:txBody>
      </p:sp>
      <p:sp>
        <p:nvSpPr>
          <p:cNvPr id="97" name="Google Shape;9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71500" lvl="1" indent="0">
              <a:lnSpc>
                <a:spcPct val="120000"/>
              </a:lnSpc>
              <a:buNone/>
            </a:pPr>
            <a:endParaRPr lang="en-US" sz="1400" dirty="0">
              <a:solidFill>
                <a:schemeClr val="tx1"/>
              </a:solidFill>
              <a:highlight>
                <a:srgbClr val="FFFF00"/>
              </a:highlight>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pic>
        <p:nvPicPr>
          <p:cNvPr id="3" name="Picture 2" descr="A person sitting in a chair&#10;&#10;Description automatically generated">
            <a:extLst>
              <a:ext uri="{FF2B5EF4-FFF2-40B4-BE49-F238E27FC236}">
                <a16:creationId xmlns:a16="http://schemas.microsoft.com/office/drawing/2014/main" id="{1357AA45-D90E-3808-7A49-867760B62F04}"/>
              </a:ext>
            </a:extLst>
          </p:cNvPr>
          <p:cNvPicPr>
            <a:picLocks noChangeAspect="1"/>
          </p:cNvPicPr>
          <p:nvPr/>
        </p:nvPicPr>
        <p:blipFill>
          <a:blip r:embed="rId4"/>
          <a:stretch>
            <a:fillRect/>
          </a:stretch>
        </p:blipFill>
        <p:spPr>
          <a:xfrm>
            <a:off x="531926" y="1696352"/>
            <a:ext cx="7727172" cy="4429811"/>
          </a:xfrm>
          <a:prstGeom prst="rect">
            <a:avLst/>
          </a:prstGeom>
        </p:spPr>
      </p:pic>
    </p:spTree>
    <p:extLst>
      <p:ext uri="{BB962C8B-B14F-4D97-AF65-F5344CB8AC3E}">
        <p14:creationId xmlns:p14="http://schemas.microsoft.com/office/powerpoint/2010/main" val="3210600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C47FB28-505E-4DB0-6B37-994E34F26EF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3A2B31A3-CEB2-953F-87F9-4D049510E9C1}"/>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OUTPUT</a:t>
            </a:r>
          </a:p>
        </p:txBody>
      </p:sp>
      <p:sp>
        <p:nvSpPr>
          <p:cNvPr id="97" name="Google Shape;97;p2">
            <a:extLst>
              <a:ext uri="{FF2B5EF4-FFF2-40B4-BE49-F238E27FC236}">
                <a16:creationId xmlns:a16="http://schemas.microsoft.com/office/drawing/2014/main" id="{78F15A76-7FC4-F08C-D570-BE21C4D34A47}"/>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71500" lvl="1" indent="0">
              <a:lnSpc>
                <a:spcPct val="120000"/>
              </a:lnSpc>
              <a:buNone/>
            </a:pPr>
            <a:endParaRPr lang="en-US" sz="1400" dirty="0">
              <a:solidFill>
                <a:schemeClr val="tx1"/>
              </a:solidFill>
              <a:highlight>
                <a:srgbClr val="FFFF00"/>
              </a:highligh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AAB4F20D-879C-1E95-ED1B-94394FCB5EAC}"/>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C8EEEF70-C211-5281-980B-95A6720A2B0F}"/>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0" name="Google Shape;100;p2">
            <a:extLst>
              <a:ext uri="{FF2B5EF4-FFF2-40B4-BE49-F238E27FC236}">
                <a16:creationId xmlns:a16="http://schemas.microsoft.com/office/drawing/2014/main" id="{5C3F079E-A881-C4A6-9782-DF9AEC1ECDBC}"/>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F142B696-B587-35F8-090D-F12B0D41D422}"/>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4" name="Picture 3" descr="A person sitting on a chair&#10;&#10;Description automatically generated">
            <a:extLst>
              <a:ext uri="{FF2B5EF4-FFF2-40B4-BE49-F238E27FC236}">
                <a16:creationId xmlns:a16="http://schemas.microsoft.com/office/drawing/2014/main" id="{13FBA466-132A-68BC-87BF-BA8499D45CCA}"/>
              </a:ext>
            </a:extLst>
          </p:cNvPr>
          <p:cNvPicPr>
            <a:picLocks noChangeAspect="1"/>
          </p:cNvPicPr>
          <p:nvPr/>
        </p:nvPicPr>
        <p:blipFill>
          <a:blip r:embed="rId4"/>
          <a:stretch>
            <a:fillRect/>
          </a:stretch>
        </p:blipFill>
        <p:spPr>
          <a:xfrm>
            <a:off x="457200" y="1647824"/>
            <a:ext cx="8229600" cy="4525963"/>
          </a:xfrm>
          <a:prstGeom prst="rect">
            <a:avLst/>
          </a:prstGeom>
        </p:spPr>
      </p:pic>
    </p:spTree>
    <p:extLst>
      <p:ext uri="{BB962C8B-B14F-4D97-AF65-F5344CB8AC3E}">
        <p14:creationId xmlns:p14="http://schemas.microsoft.com/office/powerpoint/2010/main" val="3263637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EAE0FC5-43B5-5DF3-6BCE-EF8EB9E87E84}"/>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E8A68259-3C3D-7C90-5663-A94984F9E23E}"/>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OUTPUT</a:t>
            </a:r>
          </a:p>
        </p:txBody>
      </p:sp>
      <p:sp>
        <p:nvSpPr>
          <p:cNvPr id="97" name="Google Shape;97;p2">
            <a:extLst>
              <a:ext uri="{FF2B5EF4-FFF2-40B4-BE49-F238E27FC236}">
                <a16:creationId xmlns:a16="http://schemas.microsoft.com/office/drawing/2014/main" id="{A8C864F8-8386-4561-F860-F5D6F275289E}"/>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71500" lvl="1" indent="0">
              <a:lnSpc>
                <a:spcPct val="120000"/>
              </a:lnSpc>
              <a:buNone/>
            </a:pPr>
            <a:endParaRPr lang="en-US" sz="1400" dirty="0">
              <a:solidFill>
                <a:schemeClr val="tx1"/>
              </a:solidFill>
              <a:highlight>
                <a:srgbClr val="FFFF00"/>
              </a:highlight>
              <a:latin typeface="Times New Roman" panose="02020603050405020304" pitchFamily="18" charset="0"/>
              <a:cs typeface="Times New Roman" panose="02020603050405020304" pitchFamily="18" charset="0"/>
            </a:endParaRPr>
          </a:p>
        </p:txBody>
      </p:sp>
      <p:pic>
        <p:nvPicPr>
          <p:cNvPr id="98" name="Google Shape;98;p2">
            <a:extLst>
              <a:ext uri="{FF2B5EF4-FFF2-40B4-BE49-F238E27FC236}">
                <a16:creationId xmlns:a16="http://schemas.microsoft.com/office/drawing/2014/main" id="{0B3E593A-4D1F-6C17-61E3-78BD89133E04}"/>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a:extLst>
              <a:ext uri="{FF2B5EF4-FFF2-40B4-BE49-F238E27FC236}">
                <a16:creationId xmlns:a16="http://schemas.microsoft.com/office/drawing/2014/main" id="{121C18C9-AC26-BA11-3AFD-824C49AAABED}"/>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r>
              <a:rPr lang="en-US" b="1" dirty="0"/>
              <a:t>09-01-2024</a:t>
            </a:r>
            <a:endParaRPr dirty="0"/>
          </a:p>
        </p:txBody>
      </p:sp>
      <p:sp>
        <p:nvSpPr>
          <p:cNvPr id="100" name="Google Shape;100;p2">
            <a:extLst>
              <a:ext uri="{FF2B5EF4-FFF2-40B4-BE49-F238E27FC236}">
                <a16:creationId xmlns:a16="http://schemas.microsoft.com/office/drawing/2014/main" id="{87DB2413-682F-203F-D1FA-46F76B564F47}"/>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1358BD96-6438-12B9-8450-91EEB66A607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pic>
        <p:nvPicPr>
          <p:cNvPr id="4" name="Picture 3" descr="A person sitting in a chair&#10;&#10;Description automatically generated">
            <a:extLst>
              <a:ext uri="{FF2B5EF4-FFF2-40B4-BE49-F238E27FC236}">
                <a16:creationId xmlns:a16="http://schemas.microsoft.com/office/drawing/2014/main" id="{298F0763-EC47-ADD6-1B8D-DAFDAFF88CB9}"/>
              </a:ext>
            </a:extLst>
          </p:cNvPr>
          <p:cNvPicPr>
            <a:picLocks noChangeAspect="1"/>
          </p:cNvPicPr>
          <p:nvPr/>
        </p:nvPicPr>
        <p:blipFill>
          <a:blip r:embed="rId4"/>
          <a:stretch>
            <a:fillRect/>
          </a:stretch>
        </p:blipFill>
        <p:spPr>
          <a:xfrm>
            <a:off x="457200" y="1587082"/>
            <a:ext cx="8229600" cy="4539081"/>
          </a:xfrm>
          <a:prstGeom prst="rect">
            <a:avLst/>
          </a:prstGeom>
        </p:spPr>
      </p:pic>
    </p:spTree>
    <p:extLst>
      <p:ext uri="{BB962C8B-B14F-4D97-AF65-F5344CB8AC3E}">
        <p14:creationId xmlns:p14="http://schemas.microsoft.com/office/powerpoint/2010/main" val="20235148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8629</TotalTime>
  <Words>2082</Words>
  <Application>Microsoft Office PowerPoint</Application>
  <PresentationFormat>On-screen Show (4:3)</PresentationFormat>
  <Paragraphs>401</Paragraphs>
  <Slides>27</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Söhne</vt:lpstr>
      <vt:lpstr>Times New Roman</vt:lpstr>
      <vt:lpstr>TimesNewRomanPS</vt:lpstr>
      <vt:lpstr>Office Theme</vt:lpstr>
      <vt:lpstr>SMART SYSTEM FOR WORKPLACE POSTURE MONITORING</vt:lpstr>
      <vt:lpstr>      Abstract</vt:lpstr>
      <vt:lpstr>      Introduction</vt:lpstr>
      <vt:lpstr>      </vt:lpstr>
      <vt:lpstr>           Motivation</vt:lpstr>
      <vt:lpstr>          </vt:lpstr>
      <vt:lpstr>Literature Review</vt:lpstr>
      <vt:lpstr>Literature Review</vt:lpstr>
      <vt:lpstr>Literature Review</vt:lpstr>
      <vt:lpstr>PowerPoint Presentation</vt:lpstr>
      <vt:lpstr>PowerPoint Presentation</vt:lpstr>
      <vt:lpstr>PowerPoint Presentation</vt:lpstr>
      <vt:lpstr>PowerPoint Presentation</vt:lpstr>
      <vt:lpstr>PowerPoint Presentation</vt:lpstr>
      <vt:lpstr>PowerPoint Presentation</vt:lpstr>
      <vt:lpstr>             Scope and Application</vt:lpstr>
      <vt:lpstr>            Scope and Application</vt:lpstr>
      <vt:lpstr>            Scope and Application</vt:lpstr>
      <vt:lpstr>Architecture</vt:lpstr>
      <vt:lpstr>      Proposed Modules</vt:lpstr>
      <vt:lpstr>      Proposed Modules</vt:lpstr>
      <vt:lpstr>            Algorithm Description</vt:lpstr>
      <vt:lpstr>            Algorithm Description</vt:lpstr>
      <vt:lpstr>            Algorithm Description</vt:lpstr>
      <vt:lpstr>OUTPUT</vt:lpstr>
      <vt:lpstr>OUTPUT</vt:lpstr>
      <vt:lpstr>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Arnav Srivastava</cp:lastModifiedBy>
  <cp:revision>187</cp:revision>
  <dcterms:created xsi:type="dcterms:W3CDTF">2020-05-13T07:00:09Z</dcterms:created>
  <dcterms:modified xsi:type="dcterms:W3CDTF">2024-05-16T06:13:58Z</dcterms:modified>
</cp:coreProperties>
</file>