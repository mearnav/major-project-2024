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71"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0F753E-E0B7-45E0-BA7B-45A90EAEABA8}" type="datetimeFigureOut">
              <a:rPr lang="en-IN" smtClean="0"/>
              <a:t>10-01-2024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303D11-060D-4A32-9A55-F83F106819DA}" type="slidenum">
              <a:rPr lang="en-IN" smtClean="0"/>
              <a:t>‹#›</a:t>
            </a:fld>
            <a:endParaRPr lang="en-IN"/>
          </a:p>
        </p:txBody>
      </p:sp>
    </p:spTree>
    <p:extLst>
      <p:ext uri="{BB962C8B-B14F-4D97-AF65-F5344CB8AC3E}">
        <p14:creationId xmlns:p14="http://schemas.microsoft.com/office/powerpoint/2010/main" val="2294665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49F9D-2095-E37F-AAB4-0CA3C3A89A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0C3799-0A9E-6369-253B-EDD9B58B21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E414203-A263-FA66-00AA-81FC9EB45C24}"/>
              </a:ext>
            </a:extLst>
          </p:cNvPr>
          <p:cNvSpPr>
            <a:spLocks noGrp="1"/>
          </p:cNvSpPr>
          <p:nvPr>
            <p:ph type="dt" sz="half" idx="10"/>
          </p:nvPr>
        </p:nvSpPr>
        <p:spPr/>
        <p:txBody>
          <a:bodyPr/>
          <a:lstStyle/>
          <a:p>
            <a:fld id="{6AD515DE-502D-49F2-9D4C-A29CBCB74919}" type="datetimeFigureOut">
              <a:rPr lang="en-IN" smtClean="0"/>
              <a:t>10-01-2024</a:t>
            </a:fld>
            <a:endParaRPr lang="en-IN"/>
          </a:p>
        </p:txBody>
      </p:sp>
      <p:sp>
        <p:nvSpPr>
          <p:cNvPr id="5" name="Footer Placeholder 4">
            <a:extLst>
              <a:ext uri="{FF2B5EF4-FFF2-40B4-BE49-F238E27FC236}">
                <a16:creationId xmlns:a16="http://schemas.microsoft.com/office/drawing/2014/main" id="{28A90E85-054D-4745-EBE7-1F5FF76D57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4D978E-487F-133C-0810-DB100118FD83}"/>
              </a:ext>
            </a:extLst>
          </p:cNvPr>
          <p:cNvSpPr>
            <a:spLocks noGrp="1"/>
          </p:cNvSpPr>
          <p:nvPr>
            <p:ph type="sldNum" sz="quarter" idx="12"/>
          </p:nvPr>
        </p:nvSpPr>
        <p:spPr/>
        <p:txBody>
          <a:bodyPr/>
          <a:lstStyle/>
          <a:p>
            <a:fld id="{787DBE78-E962-46C4-BCD3-8DA9FC791509}" type="slidenum">
              <a:rPr lang="en-IN" smtClean="0"/>
              <a:t>‹#›</a:t>
            </a:fld>
            <a:endParaRPr lang="en-IN"/>
          </a:p>
        </p:txBody>
      </p:sp>
    </p:spTree>
    <p:extLst>
      <p:ext uri="{BB962C8B-B14F-4D97-AF65-F5344CB8AC3E}">
        <p14:creationId xmlns:p14="http://schemas.microsoft.com/office/powerpoint/2010/main" val="1323208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11A8C-F88D-59BD-A910-D4A41A201C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75D201-F106-EDA8-C2F6-0DB6989ECA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6FD2F6-A93A-98F7-B1CA-506F61B78E77}"/>
              </a:ext>
            </a:extLst>
          </p:cNvPr>
          <p:cNvSpPr>
            <a:spLocks noGrp="1"/>
          </p:cNvSpPr>
          <p:nvPr>
            <p:ph type="dt" sz="half" idx="10"/>
          </p:nvPr>
        </p:nvSpPr>
        <p:spPr/>
        <p:txBody>
          <a:bodyPr/>
          <a:lstStyle/>
          <a:p>
            <a:fld id="{6AD515DE-502D-49F2-9D4C-A29CBCB74919}" type="datetimeFigureOut">
              <a:rPr lang="en-IN" smtClean="0"/>
              <a:t>10-01-2024</a:t>
            </a:fld>
            <a:endParaRPr lang="en-IN"/>
          </a:p>
        </p:txBody>
      </p:sp>
      <p:sp>
        <p:nvSpPr>
          <p:cNvPr id="5" name="Footer Placeholder 4">
            <a:extLst>
              <a:ext uri="{FF2B5EF4-FFF2-40B4-BE49-F238E27FC236}">
                <a16:creationId xmlns:a16="http://schemas.microsoft.com/office/drawing/2014/main" id="{83D9D3DD-7D1B-D491-6F0B-E4B05E1F6B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7D8487-8ED8-164E-A995-965574B7189C}"/>
              </a:ext>
            </a:extLst>
          </p:cNvPr>
          <p:cNvSpPr>
            <a:spLocks noGrp="1"/>
          </p:cNvSpPr>
          <p:nvPr>
            <p:ph type="sldNum" sz="quarter" idx="12"/>
          </p:nvPr>
        </p:nvSpPr>
        <p:spPr/>
        <p:txBody>
          <a:bodyPr/>
          <a:lstStyle/>
          <a:p>
            <a:fld id="{787DBE78-E962-46C4-BCD3-8DA9FC791509}" type="slidenum">
              <a:rPr lang="en-IN" smtClean="0"/>
              <a:t>‹#›</a:t>
            </a:fld>
            <a:endParaRPr lang="en-IN"/>
          </a:p>
        </p:txBody>
      </p:sp>
    </p:spTree>
    <p:extLst>
      <p:ext uri="{BB962C8B-B14F-4D97-AF65-F5344CB8AC3E}">
        <p14:creationId xmlns:p14="http://schemas.microsoft.com/office/powerpoint/2010/main" val="277624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2341D-BDF7-E498-CCC0-D208CA8C59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C87B11-D126-D5A5-E969-0007F0E485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8B8977-9E72-A770-F0D3-C0C2BA8F6FFD}"/>
              </a:ext>
            </a:extLst>
          </p:cNvPr>
          <p:cNvSpPr>
            <a:spLocks noGrp="1"/>
          </p:cNvSpPr>
          <p:nvPr>
            <p:ph type="dt" sz="half" idx="10"/>
          </p:nvPr>
        </p:nvSpPr>
        <p:spPr/>
        <p:txBody>
          <a:bodyPr/>
          <a:lstStyle/>
          <a:p>
            <a:fld id="{6AD515DE-502D-49F2-9D4C-A29CBCB74919}" type="datetimeFigureOut">
              <a:rPr lang="en-IN" smtClean="0"/>
              <a:t>10-01-2024</a:t>
            </a:fld>
            <a:endParaRPr lang="en-IN"/>
          </a:p>
        </p:txBody>
      </p:sp>
      <p:sp>
        <p:nvSpPr>
          <p:cNvPr id="5" name="Footer Placeholder 4">
            <a:extLst>
              <a:ext uri="{FF2B5EF4-FFF2-40B4-BE49-F238E27FC236}">
                <a16:creationId xmlns:a16="http://schemas.microsoft.com/office/drawing/2014/main" id="{C1E47F52-7501-065F-042A-8BFC6F1BDD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EA4486-334D-851A-1247-1B0BF668A1BE}"/>
              </a:ext>
            </a:extLst>
          </p:cNvPr>
          <p:cNvSpPr>
            <a:spLocks noGrp="1"/>
          </p:cNvSpPr>
          <p:nvPr>
            <p:ph type="sldNum" sz="quarter" idx="12"/>
          </p:nvPr>
        </p:nvSpPr>
        <p:spPr/>
        <p:txBody>
          <a:bodyPr/>
          <a:lstStyle/>
          <a:p>
            <a:fld id="{787DBE78-E962-46C4-BCD3-8DA9FC791509}" type="slidenum">
              <a:rPr lang="en-IN" smtClean="0"/>
              <a:t>‹#›</a:t>
            </a:fld>
            <a:endParaRPr lang="en-IN"/>
          </a:p>
        </p:txBody>
      </p:sp>
    </p:spTree>
    <p:extLst>
      <p:ext uri="{BB962C8B-B14F-4D97-AF65-F5344CB8AC3E}">
        <p14:creationId xmlns:p14="http://schemas.microsoft.com/office/powerpoint/2010/main" val="108885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E57FE-7533-D379-7113-E29C47D9A3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64380F-69A3-DA90-EA8C-E94B0AB1D0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393279-7BF2-A316-BCAB-8BFF42B9F1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4DE2BA-137C-F12B-07F9-B0904E89F28C}"/>
              </a:ext>
            </a:extLst>
          </p:cNvPr>
          <p:cNvSpPr>
            <a:spLocks noGrp="1"/>
          </p:cNvSpPr>
          <p:nvPr>
            <p:ph type="dt" sz="half" idx="10"/>
          </p:nvPr>
        </p:nvSpPr>
        <p:spPr/>
        <p:txBody>
          <a:bodyPr/>
          <a:lstStyle/>
          <a:p>
            <a:fld id="{6AD515DE-502D-49F2-9D4C-A29CBCB74919}" type="datetimeFigureOut">
              <a:rPr lang="en-IN" smtClean="0"/>
              <a:t>10-01-2024</a:t>
            </a:fld>
            <a:endParaRPr lang="en-IN"/>
          </a:p>
        </p:txBody>
      </p:sp>
      <p:sp>
        <p:nvSpPr>
          <p:cNvPr id="6" name="Footer Placeholder 5">
            <a:extLst>
              <a:ext uri="{FF2B5EF4-FFF2-40B4-BE49-F238E27FC236}">
                <a16:creationId xmlns:a16="http://schemas.microsoft.com/office/drawing/2014/main" id="{484EE653-F153-3D31-2509-89F5B719FE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ADEAE9-3DD7-4FB9-CF4F-7F4B1AEEA927}"/>
              </a:ext>
            </a:extLst>
          </p:cNvPr>
          <p:cNvSpPr>
            <a:spLocks noGrp="1"/>
          </p:cNvSpPr>
          <p:nvPr>
            <p:ph type="sldNum" sz="quarter" idx="12"/>
          </p:nvPr>
        </p:nvSpPr>
        <p:spPr/>
        <p:txBody>
          <a:bodyPr/>
          <a:lstStyle/>
          <a:p>
            <a:fld id="{787DBE78-E962-46C4-BCD3-8DA9FC791509}" type="slidenum">
              <a:rPr lang="en-IN" smtClean="0"/>
              <a:t>‹#›</a:t>
            </a:fld>
            <a:endParaRPr lang="en-IN"/>
          </a:p>
        </p:txBody>
      </p:sp>
    </p:spTree>
    <p:extLst>
      <p:ext uri="{BB962C8B-B14F-4D97-AF65-F5344CB8AC3E}">
        <p14:creationId xmlns:p14="http://schemas.microsoft.com/office/powerpoint/2010/main" val="3164435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2C6EA-3110-B7F0-81D3-088D775879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0778EB-8058-876B-B238-0D84D1D53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0AA0FA-DA0C-42A6-9F9F-5DA60A0BB6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600E6A-3868-FAA0-4EFB-4589CF0A89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59848B-8481-3ECE-1103-7BF2160A11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E39B2B-4480-6DBC-8D70-44ABF7741498}"/>
              </a:ext>
            </a:extLst>
          </p:cNvPr>
          <p:cNvSpPr>
            <a:spLocks noGrp="1"/>
          </p:cNvSpPr>
          <p:nvPr>
            <p:ph type="dt" sz="half" idx="10"/>
          </p:nvPr>
        </p:nvSpPr>
        <p:spPr/>
        <p:txBody>
          <a:bodyPr/>
          <a:lstStyle/>
          <a:p>
            <a:fld id="{6AD515DE-502D-49F2-9D4C-A29CBCB74919}" type="datetimeFigureOut">
              <a:rPr lang="en-IN" smtClean="0"/>
              <a:t>10-01-2024</a:t>
            </a:fld>
            <a:endParaRPr lang="en-IN"/>
          </a:p>
        </p:txBody>
      </p:sp>
      <p:sp>
        <p:nvSpPr>
          <p:cNvPr id="8" name="Footer Placeholder 7">
            <a:extLst>
              <a:ext uri="{FF2B5EF4-FFF2-40B4-BE49-F238E27FC236}">
                <a16:creationId xmlns:a16="http://schemas.microsoft.com/office/drawing/2014/main" id="{D233F345-62C3-9471-334B-BAE999609E5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DC8315B-7EA0-1923-087C-7AAACEB079C2}"/>
              </a:ext>
            </a:extLst>
          </p:cNvPr>
          <p:cNvSpPr>
            <a:spLocks noGrp="1"/>
          </p:cNvSpPr>
          <p:nvPr>
            <p:ph type="sldNum" sz="quarter" idx="12"/>
          </p:nvPr>
        </p:nvSpPr>
        <p:spPr/>
        <p:txBody>
          <a:bodyPr/>
          <a:lstStyle/>
          <a:p>
            <a:fld id="{787DBE78-E962-46C4-BCD3-8DA9FC791509}" type="slidenum">
              <a:rPr lang="en-IN" smtClean="0"/>
              <a:t>‹#›</a:t>
            </a:fld>
            <a:endParaRPr lang="en-IN"/>
          </a:p>
        </p:txBody>
      </p:sp>
    </p:spTree>
    <p:extLst>
      <p:ext uri="{BB962C8B-B14F-4D97-AF65-F5344CB8AC3E}">
        <p14:creationId xmlns:p14="http://schemas.microsoft.com/office/powerpoint/2010/main" val="4153195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B1C10-E359-81AA-0830-BE02D1C5FF7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D82DB31-1F03-D25E-17D5-4BBD371B4BB6}"/>
              </a:ext>
            </a:extLst>
          </p:cNvPr>
          <p:cNvSpPr>
            <a:spLocks noGrp="1"/>
          </p:cNvSpPr>
          <p:nvPr>
            <p:ph type="dt" sz="half" idx="10"/>
          </p:nvPr>
        </p:nvSpPr>
        <p:spPr/>
        <p:txBody>
          <a:bodyPr/>
          <a:lstStyle/>
          <a:p>
            <a:fld id="{6AD515DE-502D-49F2-9D4C-A29CBCB74919}" type="datetimeFigureOut">
              <a:rPr lang="en-IN" smtClean="0"/>
              <a:t>10-01-2024</a:t>
            </a:fld>
            <a:endParaRPr lang="en-IN"/>
          </a:p>
        </p:txBody>
      </p:sp>
      <p:sp>
        <p:nvSpPr>
          <p:cNvPr id="4" name="Footer Placeholder 3">
            <a:extLst>
              <a:ext uri="{FF2B5EF4-FFF2-40B4-BE49-F238E27FC236}">
                <a16:creationId xmlns:a16="http://schemas.microsoft.com/office/drawing/2014/main" id="{E53B86A5-E38C-D755-2991-2458A1BBFFF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0041D46-EC2F-0A63-07AA-CED54BE4E79A}"/>
              </a:ext>
            </a:extLst>
          </p:cNvPr>
          <p:cNvSpPr>
            <a:spLocks noGrp="1"/>
          </p:cNvSpPr>
          <p:nvPr>
            <p:ph type="sldNum" sz="quarter" idx="12"/>
          </p:nvPr>
        </p:nvSpPr>
        <p:spPr/>
        <p:txBody>
          <a:bodyPr/>
          <a:lstStyle/>
          <a:p>
            <a:fld id="{787DBE78-E962-46C4-BCD3-8DA9FC791509}" type="slidenum">
              <a:rPr lang="en-IN" smtClean="0"/>
              <a:t>‹#›</a:t>
            </a:fld>
            <a:endParaRPr lang="en-IN"/>
          </a:p>
        </p:txBody>
      </p:sp>
    </p:spTree>
    <p:extLst>
      <p:ext uri="{BB962C8B-B14F-4D97-AF65-F5344CB8AC3E}">
        <p14:creationId xmlns:p14="http://schemas.microsoft.com/office/powerpoint/2010/main" val="11634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824C8F-55DB-D03A-469D-6BA17696B97A}"/>
              </a:ext>
            </a:extLst>
          </p:cNvPr>
          <p:cNvSpPr>
            <a:spLocks noGrp="1"/>
          </p:cNvSpPr>
          <p:nvPr>
            <p:ph type="dt" sz="half" idx="10"/>
          </p:nvPr>
        </p:nvSpPr>
        <p:spPr/>
        <p:txBody>
          <a:bodyPr/>
          <a:lstStyle/>
          <a:p>
            <a:fld id="{6AD515DE-502D-49F2-9D4C-A29CBCB74919}" type="datetimeFigureOut">
              <a:rPr lang="en-IN" smtClean="0"/>
              <a:t>10-01-2024</a:t>
            </a:fld>
            <a:endParaRPr lang="en-IN"/>
          </a:p>
        </p:txBody>
      </p:sp>
      <p:sp>
        <p:nvSpPr>
          <p:cNvPr id="3" name="Footer Placeholder 2">
            <a:extLst>
              <a:ext uri="{FF2B5EF4-FFF2-40B4-BE49-F238E27FC236}">
                <a16:creationId xmlns:a16="http://schemas.microsoft.com/office/drawing/2014/main" id="{4A55644A-5CAA-17B3-6507-BDD3381CA3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1060233-1137-2212-B665-A8ACB815AD52}"/>
              </a:ext>
            </a:extLst>
          </p:cNvPr>
          <p:cNvSpPr>
            <a:spLocks noGrp="1"/>
          </p:cNvSpPr>
          <p:nvPr>
            <p:ph type="sldNum" sz="quarter" idx="12"/>
          </p:nvPr>
        </p:nvSpPr>
        <p:spPr/>
        <p:txBody>
          <a:bodyPr/>
          <a:lstStyle/>
          <a:p>
            <a:fld id="{787DBE78-E962-46C4-BCD3-8DA9FC791509}" type="slidenum">
              <a:rPr lang="en-IN" smtClean="0"/>
              <a:t>‹#›</a:t>
            </a:fld>
            <a:endParaRPr lang="en-IN"/>
          </a:p>
        </p:txBody>
      </p:sp>
    </p:spTree>
    <p:extLst>
      <p:ext uri="{BB962C8B-B14F-4D97-AF65-F5344CB8AC3E}">
        <p14:creationId xmlns:p14="http://schemas.microsoft.com/office/powerpoint/2010/main" val="2607328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1E7C5-51A2-716C-B8B9-369FA52469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03BFD2-F24F-4270-C808-E0C38C6EA2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D2AFF85-5307-4AD0-6335-6F55695EBF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22A95D-686C-8437-01AB-C154B09C43EA}"/>
              </a:ext>
            </a:extLst>
          </p:cNvPr>
          <p:cNvSpPr>
            <a:spLocks noGrp="1"/>
          </p:cNvSpPr>
          <p:nvPr>
            <p:ph type="dt" sz="half" idx="10"/>
          </p:nvPr>
        </p:nvSpPr>
        <p:spPr/>
        <p:txBody>
          <a:bodyPr/>
          <a:lstStyle/>
          <a:p>
            <a:fld id="{6AD515DE-502D-49F2-9D4C-A29CBCB74919}" type="datetimeFigureOut">
              <a:rPr lang="en-IN" smtClean="0"/>
              <a:t>10-01-2024</a:t>
            </a:fld>
            <a:endParaRPr lang="en-IN"/>
          </a:p>
        </p:txBody>
      </p:sp>
      <p:sp>
        <p:nvSpPr>
          <p:cNvPr id="6" name="Footer Placeholder 5">
            <a:extLst>
              <a:ext uri="{FF2B5EF4-FFF2-40B4-BE49-F238E27FC236}">
                <a16:creationId xmlns:a16="http://schemas.microsoft.com/office/drawing/2014/main" id="{39A841F7-1D63-2FBF-D850-B80E3C5A72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182CD3-64E6-0EDA-FB44-EDC9A6A31B19}"/>
              </a:ext>
            </a:extLst>
          </p:cNvPr>
          <p:cNvSpPr>
            <a:spLocks noGrp="1"/>
          </p:cNvSpPr>
          <p:nvPr>
            <p:ph type="sldNum" sz="quarter" idx="12"/>
          </p:nvPr>
        </p:nvSpPr>
        <p:spPr/>
        <p:txBody>
          <a:bodyPr/>
          <a:lstStyle/>
          <a:p>
            <a:fld id="{787DBE78-E962-46C4-BCD3-8DA9FC791509}" type="slidenum">
              <a:rPr lang="en-IN" smtClean="0"/>
              <a:t>‹#›</a:t>
            </a:fld>
            <a:endParaRPr lang="en-IN"/>
          </a:p>
        </p:txBody>
      </p:sp>
    </p:spTree>
    <p:extLst>
      <p:ext uri="{BB962C8B-B14F-4D97-AF65-F5344CB8AC3E}">
        <p14:creationId xmlns:p14="http://schemas.microsoft.com/office/powerpoint/2010/main" val="3887078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0D082-A94F-584F-F456-9DD6A8637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D9AE7EA-83FA-8B3E-1507-D316D03B3B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DBDF21-69C8-6252-73CC-E99C381B89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622384-E024-4EE5-0A99-DE32AF817E32}"/>
              </a:ext>
            </a:extLst>
          </p:cNvPr>
          <p:cNvSpPr>
            <a:spLocks noGrp="1"/>
          </p:cNvSpPr>
          <p:nvPr>
            <p:ph type="dt" sz="half" idx="10"/>
          </p:nvPr>
        </p:nvSpPr>
        <p:spPr/>
        <p:txBody>
          <a:bodyPr/>
          <a:lstStyle/>
          <a:p>
            <a:fld id="{6AD515DE-502D-49F2-9D4C-A29CBCB74919}" type="datetimeFigureOut">
              <a:rPr lang="en-IN" smtClean="0"/>
              <a:t>10-01-2024</a:t>
            </a:fld>
            <a:endParaRPr lang="en-IN"/>
          </a:p>
        </p:txBody>
      </p:sp>
      <p:sp>
        <p:nvSpPr>
          <p:cNvPr id="6" name="Footer Placeholder 5">
            <a:extLst>
              <a:ext uri="{FF2B5EF4-FFF2-40B4-BE49-F238E27FC236}">
                <a16:creationId xmlns:a16="http://schemas.microsoft.com/office/drawing/2014/main" id="{A907826B-86B5-23DB-7819-0E4D57B583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03E1BD-B76A-45B3-C1D9-A2146EF80A83}"/>
              </a:ext>
            </a:extLst>
          </p:cNvPr>
          <p:cNvSpPr>
            <a:spLocks noGrp="1"/>
          </p:cNvSpPr>
          <p:nvPr>
            <p:ph type="sldNum" sz="quarter" idx="12"/>
          </p:nvPr>
        </p:nvSpPr>
        <p:spPr/>
        <p:txBody>
          <a:bodyPr/>
          <a:lstStyle/>
          <a:p>
            <a:fld id="{787DBE78-E962-46C4-BCD3-8DA9FC791509}" type="slidenum">
              <a:rPr lang="en-IN" smtClean="0"/>
              <a:t>‹#›</a:t>
            </a:fld>
            <a:endParaRPr lang="en-IN"/>
          </a:p>
        </p:txBody>
      </p:sp>
    </p:spTree>
    <p:extLst>
      <p:ext uri="{BB962C8B-B14F-4D97-AF65-F5344CB8AC3E}">
        <p14:creationId xmlns:p14="http://schemas.microsoft.com/office/powerpoint/2010/main" val="1897484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ECC8D-0867-787C-5968-21AA8082956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4BB8CE-CBC2-63A1-4D5E-EDDB6D1B8B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9DAC03-226F-5D88-809C-68130B284B76}"/>
              </a:ext>
            </a:extLst>
          </p:cNvPr>
          <p:cNvSpPr>
            <a:spLocks noGrp="1"/>
          </p:cNvSpPr>
          <p:nvPr>
            <p:ph type="dt" sz="half" idx="10"/>
          </p:nvPr>
        </p:nvSpPr>
        <p:spPr/>
        <p:txBody>
          <a:bodyPr/>
          <a:lstStyle/>
          <a:p>
            <a:fld id="{6AD515DE-502D-49F2-9D4C-A29CBCB74919}" type="datetimeFigureOut">
              <a:rPr lang="en-IN" smtClean="0"/>
              <a:t>10-01-2024</a:t>
            </a:fld>
            <a:endParaRPr lang="en-IN"/>
          </a:p>
        </p:txBody>
      </p:sp>
      <p:sp>
        <p:nvSpPr>
          <p:cNvPr id="5" name="Footer Placeholder 4">
            <a:extLst>
              <a:ext uri="{FF2B5EF4-FFF2-40B4-BE49-F238E27FC236}">
                <a16:creationId xmlns:a16="http://schemas.microsoft.com/office/drawing/2014/main" id="{88F3DD74-9988-071D-3C27-EF80D56917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B885D3-5B78-0348-2E61-EC7FABDE67CE}"/>
              </a:ext>
            </a:extLst>
          </p:cNvPr>
          <p:cNvSpPr>
            <a:spLocks noGrp="1"/>
          </p:cNvSpPr>
          <p:nvPr>
            <p:ph type="sldNum" sz="quarter" idx="12"/>
          </p:nvPr>
        </p:nvSpPr>
        <p:spPr/>
        <p:txBody>
          <a:bodyPr/>
          <a:lstStyle/>
          <a:p>
            <a:fld id="{787DBE78-E962-46C4-BCD3-8DA9FC791509}" type="slidenum">
              <a:rPr lang="en-IN" smtClean="0"/>
              <a:t>‹#›</a:t>
            </a:fld>
            <a:endParaRPr lang="en-IN"/>
          </a:p>
        </p:txBody>
      </p:sp>
    </p:spTree>
    <p:extLst>
      <p:ext uri="{BB962C8B-B14F-4D97-AF65-F5344CB8AC3E}">
        <p14:creationId xmlns:p14="http://schemas.microsoft.com/office/powerpoint/2010/main" val="1783793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2B270A-07D5-FECA-0F27-3ABEDFB038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FD35B7-B836-E5BC-4D0C-70A991E554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3ECBDF-5267-2A70-0B99-F1AE28EF6EB5}"/>
              </a:ext>
            </a:extLst>
          </p:cNvPr>
          <p:cNvSpPr>
            <a:spLocks noGrp="1"/>
          </p:cNvSpPr>
          <p:nvPr>
            <p:ph type="dt" sz="half" idx="10"/>
          </p:nvPr>
        </p:nvSpPr>
        <p:spPr/>
        <p:txBody>
          <a:bodyPr/>
          <a:lstStyle/>
          <a:p>
            <a:fld id="{6AD515DE-502D-49F2-9D4C-A29CBCB74919}" type="datetimeFigureOut">
              <a:rPr lang="en-IN" smtClean="0"/>
              <a:t>10-01-2024</a:t>
            </a:fld>
            <a:endParaRPr lang="en-IN"/>
          </a:p>
        </p:txBody>
      </p:sp>
      <p:sp>
        <p:nvSpPr>
          <p:cNvPr id="5" name="Footer Placeholder 4">
            <a:extLst>
              <a:ext uri="{FF2B5EF4-FFF2-40B4-BE49-F238E27FC236}">
                <a16:creationId xmlns:a16="http://schemas.microsoft.com/office/drawing/2014/main" id="{A738B99F-032C-F2A8-82E7-9D47DC3519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A2C6DA-177D-C8B6-69E1-C2F22ED3DF76}"/>
              </a:ext>
            </a:extLst>
          </p:cNvPr>
          <p:cNvSpPr>
            <a:spLocks noGrp="1"/>
          </p:cNvSpPr>
          <p:nvPr>
            <p:ph type="sldNum" sz="quarter" idx="12"/>
          </p:nvPr>
        </p:nvSpPr>
        <p:spPr/>
        <p:txBody>
          <a:bodyPr/>
          <a:lstStyle/>
          <a:p>
            <a:fld id="{787DBE78-E962-46C4-BCD3-8DA9FC791509}" type="slidenum">
              <a:rPr lang="en-IN" smtClean="0"/>
              <a:t>‹#›</a:t>
            </a:fld>
            <a:endParaRPr lang="en-IN"/>
          </a:p>
        </p:txBody>
      </p:sp>
    </p:spTree>
    <p:extLst>
      <p:ext uri="{BB962C8B-B14F-4D97-AF65-F5344CB8AC3E}">
        <p14:creationId xmlns:p14="http://schemas.microsoft.com/office/powerpoint/2010/main" val="674687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FDF09A-4510-4BB5-15B4-F396EB607E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3C494A-9379-E04C-6219-B85A1FDBC3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D332F1-2F6E-726D-B6D0-CE3C01E129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D515DE-502D-49F2-9D4C-A29CBCB74919}" type="datetimeFigureOut">
              <a:rPr lang="en-IN" smtClean="0"/>
              <a:t>10-01-2024</a:t>
            </a:fld>
            <a:endParaRPr lang="en-IN"/>
          </a:p>
        </p:txBody>
      </p:sp>
      <p:sp>
        <p:nvSpPr>
          <p:cNvPr id="5" name="Footer Placeholder 4">
            <a:extLst>
              <a:ext uri="{FF2B5EF4-FFF2-40B4-BE49-F238E27FC236}">
                <a16:creationId xmlns:a16="http://schemas.microsoft.com/office/drawing/2014/main" id="{3B2093C9-CD07-613F-ACA6-D3890E59AC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A23EFDD-FA65-D6A7-98D4-149B45A7E1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7DBE78-E962-46C4-BCD3-8DA9FC791509}" type="slidenum">
              <a:rPr lang="en-IN" smtClean="0"/>
              <a:t>‹#›</a:t>
            </a:fld>
            <a:endParaRPr lang="en-IN"/>
          </a:p>
        </p:txBody>
      </p:sp>
    </p:spTree>
    <p:extLst>
      <p:ext uri="{BB962C8B-B14F-4D97-AF65-F5344CB8AC3E}">
        <p14:creationId xmlns:p14="http://schemas.microsoft.com/office/powerpoint/2010/main" val="1371373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2531269" y="2175237"/>
            <a:ext cx="7772400" cy="1470025"/>
          </a:xfrm>
          <a:prstGeom prst="rect">
            <a:avLst/>
          </a:prstGeom>
          <a:noFill/>
          <a:ln>
            <a:noFill/>
          </a:ln>
        </p:spPr>
        <p:txBody>
          <a:bodyPr spcFirstLastPara="1" vert="horz" wrap="square" lIns="91425" tIns="45700" rIns="91425" bIns="45700" rtlCol="0" anchor="ctr" anchorCtr="0">
            <a:normAutofit/>
          </a:bodyPr>
          <a:lstStyle/>
          <a:p>
            <a:pPr>
              <a:spcBef>
                <a:spcPts val="0"/>
              </a:spcBef>
              <a:buClr>
                <a:schemeClr val="dk1"/>
              </a:buClr>
              <a:buSzPts val="4400"/>
            </a:pPr>
            <a:r>
              <a:rPr lang="en-IN" sz="2800" dirty="0">
                <a:solidFill>
                  <a:srgbClr val="000000"/>
                </a:solidFill>
                <a:latin typeface="Aptos Display" panose="020B0004020202020204" pitchFamily="34" charset="0"/>
              </a:rPr>
              <a:t>SMART SYSTEM FOR WORKPLACE POSTURE MONITORING</a:t>
            </a:r>
            <a:endParaRPr lang="en-US" sz="2800" dirty="0">
              <a:latin typeface="Times New Roman" panose="02020603050405020304" pitchFamily="18" charset="0"/>
              <a:cs typeface="Times New Roman" panose="02020603050405020304" pitchFamily="18" charset="0"/>
            </a:endParaRPr>
          </a:p>
        </p:txBody>
      </p:sp>
      <p:sp>
        <p:nvSpPr>
          <p:cNvPr id="89" name="Google Shape;89;p1"/>
          <p:cNvSpPr txBox="1">
            <a:spLocks noGrp="1"/>
          </p:cNvSpPr>
          <p:nvPr>
            <p:ph type="subTitle" idx="1"/>
          </p:nvPr>
        </p:nvSpPr>
        <p:spPr>
          <a:xfrm>
            <a:off x="5910264" y="4586288"/>
            <a:ext cx="4605337" cy="1981200"/>
          </a:xfrm>
          <a:prstGeom prst="rect">
            <a:avLst/>
          </a:prstGeom>
          <a:noFill/>
          <a:ln>
            <a:noFill/>
          </a:ln>
        </p:spPr>
        <p:txBody>
          <a:bodyPr spcFirstLastPara="1" vert="horz" wrap="square" lIns="91425" tIns="45700" rIns="91425" bIns="45700" rtlCol="0" anchor="t" anchorCtr="0">
            <a:normAutofit fontScale="85000" lnSpcReduction="20000"/>
          </a:bodyPr>
          <a:lstStyle/>
          <a:p>
            <a:pPr>
              <a:spcBef>
                <a:spcPts val="0"/>
              </a:spcBef>
              <a:buSzPct val="100000"/>
            </a:pPr>
            <a:r>
              <a:rPr lang="en-US" dirty="0">
                <a:solidFill>
                  <a:schemeClr val="tx1"/>
                </a:solidFill>
                <a:latin typeface="Times New Roman" panose="02020603050405020304" pitchFamily="18" charset="0"/>
                <a:cs typeface="Times New Roman" panose="02020603050405020304" pitchFamily="18" charset="0"/>
              </a:rPr>
              <a:t>Batch ID: </a:t>
            </a:r>
          </a:p>
          <a:p>
            <a:pPr>
              <a:spcBef>
                <a:spcPts val="0"/>
              </a:spcBef>
              <a:buClr>
                <a:srgbClr val="888888"/>
              </a:buClr>
              <a:buSzPct val="100000"/>
            </a:pPr>
            <a:endParaRPr lang="en-US" dirty="0">
              <a:solidFill>
                <a:schemeClr val="tx1"/>
              </a:solidFill>
              <a:latin typeface="Times New Roman" panose="02020603050405020304" pitchFamily="18" charset="0"/>
              <a:cs typeface="Times New Roman" panose="02020603050405020304" pitchFamily="18" charset="0"/>
            </a:endParaRPr>
          </a:p>
          <a:p>
            <a:pPr>
              <a:spcBef>
                <a:spcPts val="0"/>
              </a:spcBef>
              <a:buClr>
                <a:srgbClr val="888888"/>
              </a:buClr>
              <a:buSzPct val="100000"/>
            </a:pPr>
            <a:r>
              <a:rPr lang="en-US" dirty="0">
                <a:solidFill>
                  <a:schemeClr val="tx1"/>
                </a:solidFill>
                <a:latin typeface="Times New Roman" panose="02020603050405020304" pitchFamily="18" charset="0"/>
                <a:cs typeface="Times New Roman" panose="02020603050405020304" pitchFamily="18" charset="0"/>
              </a:rPr>
              <a:t>Student 1 Reg. No: RA2011003010410</a:t>
            </a:r>
            <a:endParaRPr dirty="0">
              <a:solidFill>
                <a:schemeClr val="tx1"/>
              </a:solidFill>
              <a:latin typeface="Times New Roman" panose="02020603050405020304" pitchFamily="18" charset="0"/>
              <a:cs typeface="Times New Roman" panose="02020603050405020304" pitchFamily="18" charset="0"/>
            </a:endParaRPr>
          </a:p>
          <a:p>
            <a:pPr>
              <a:spcBef>
                <a:spcPts val="592"/>
              </a:spcBef>
              <a:buSzPct val="100000"/>
            </a:pPr>
            <a:r>
              <a:rPr lang="en-US" dirty="0">
                <a:solidFill>
                  <a:schemeClr val="tx1"/>
                </a:solidFill>
                <a:latin typeface="Times New Roman" panose="02020603050405020304" pitchFamily="18" charset="0"/>
                <a:cs typeface="Times New Roman" panose="02020603050405020304" pitchFamily="18" charset="0"/>
              </a:rPr>
              <a:t>Student 1 Name: Ankit Singh</a:t>
            </a:r>
          </a:p>
          <a:p>
            <a:pPr>
              <a:spcBef>
                <a:spcPts val="592"/>
              </a:spcBef>
              <a:buClr>
                <a:srgbClr val="888888"/>
              </a:buClr>
              <a:buSzPct val="100000"/>
            </a:pPr>
            <a:endParaRPr lang="en-US" dirty="0">
              <a:solidFill>
                <a:schemeClr val="tx1"/>
              </a:solidFill>
              <a:latin typeface="Times New Roman" panose="02020603050405020304" pitchFamily="18" charset="0"/>
              <a:cs typeface="Times New Roman" panose="02020603050405020304" pitchFamily="18" charset="0"/>
            </a:endParaRPr>
          </a:p>
          <a:p>
            <a:pPr>
              <a:spcBef>
                <a:spcPts val="592"/>
              </a:spcBef>
              <a:buClr>
                <a:srgbClr val="888888"/>
              </a:buClr>
              <a:buSzPct val="100000"/>
            </a:pPr>
            <a:r>
              <a:rPr lang="en-US" dirty="0">
                <a:solidFill>
                  <a:schemeClr val="tx1"/>
                </a:solidFill>
                <a:latin typeface="Times New Roman" panose="02020603050405020304" pitchFamily="18" charset="0"/>
                <a:cs typeface="Times New Roman" panose="02020603050405020304" pitchFamily="18" charset="0"/>
              </a:rPr>
              <a:t>Student 2 Reg. No: RA2011003010415</a:t>
            </a:r>
          </a:p>
          <a:p>
            <a:pPr>
              <a:spcBef>
                <a:spcPts val="592"/>
              </a:spcBef>
              <a:buSzPct val="100000"/>
            </a:pPr>
            <a:r>
              <a:rPr lang="en-US" dirty="0">
                <a:solidFill>
                  <a:schemeClr val="tx1"/>
                </a:solidFill>
                <a:latin typeface="Times New Roman" panose="02020603050405020304" pitchFamily="18" charset="0"/>
                <a:cs typeface="Times New Roman" panose="02020603050405020304" pitchFamily="18" charset="0"/>
              </a:rPr>
              <a:t>Student 2 Name: Arnav Srivastava</a:t>
            </a:r>
            <a:endParaRPr dirty="0">
              <a:solidFill>
                <a:schemeClr val="tx1"/>
              </a:solidFill>
              <a:latin typeface="Times New Roman" panose="02020603050405020304" pitchFamily="18" charset="0"/>
              <a:cs typeface="Times New Roman" panose="02020603050405020304" pitchFamily="18" charset="0"/>
            </a:endParaRPr>
          </a:p>
        </p:txBody>
      </p:sp>
      <p:pic>
        <p:nvPicPr>
          <p:cNvPr id="90" name="Google Shape;90;p1"/>
          <p:cNvPicPr preferRelativeResize="0"/>
          <p:nvPr/>
        </p:nvPicPr>
        <p:blipFill rotWithShape="1">
          <a:blip r:embed="rId3">
            <a:alphaModFix/>
          </a:blip>
          <a:srcRect/>
          <a:stretch/>
        </p:blipFill>
        <p:spPr>
          <a:xfrm>
            <a:off x="1752601" y="553354"/>
            <a:ext cx="1735931" cy="755015"/>
          </a:xfrm>
          <a:prstGeom prst="rect">
            <a:avLst/>
          </a:prstGeom>
          <a:noFill/>
          <a:ln>
            <a:noFill/>
          </a:ln>
        </p:spPr>
      </p:pic>
      <p:sp>
        <p:nvSpPr>
          <p:cNvPr id="91" name="Google Shape;91;p1"/>
          <p:cNvSpPr/>
          <p:nvPr/>
        </p:nvSpPr>
        <p:spPr>
          <a:xfrm>
            <a:off x="3488531" y="569725"/>
            <a:ext cx="6172200" cy="1200288"/>
          </a:xfrm>
          <a:prstGeom prst="rect">
            <a:avLst/>
          </a:prstGeom>
          <a:noFill/>
          <a:ln>
            <a:noFill/>
          </a:ln>
        </p:spPr>
        <p:txBody>
          <a:bodyPr spcFirstLastPara="1" wrap="square" lIns="91425" tIns="45700" rIns="91425" bIns="45700" anchor="t" anchorCtr="0">
            <a:spAutoFit/>
          </a:bodyPr>
          <a:lstStyle/>
          <a:p>
            <a:pPr algn="ctr"/>
            <a:r>
              <a:rPr lang="en-US" b="1" dirty="0">
                <a:solidFill>
                  <a:schemeClr val="dk1"/>
                </a:solidFill>
                <a:latin typeface="Times New Roman" panose="02020603050405020304" pitchFamily="18" charset="0"/>
                <a:ea typeface="Calibri"/>
                <a:cs typeface="Times New Roman" panose="02020603050405020304" pitchFamily="18" charset="0"/>
                <a:sym typeface="Calibri"/>
              </a:rPr>
              <a:t>SRM INSTITUTE OF SCIENCE AND TECHNOLOGY </a:t>
            </a:r>
            <a:endParaRPr dirty="0">
              <a:solidFill>
                <a:schemeClr val="dk1"/>
              </a:solidFill>
              <a:latin typeface="Times New Roman" panose="02020603050405020304" pitchFamily="18" charset="0"/>
              <a:ea typeface="Calibri"/>
              <a:cs typeface="Times New Roman" panose="02020603050405020304" pitchFamily="18" charset="0"/>
              <a:sym typeface="Calibri"/>
            </a:endParaRPr>
          </a:p>
          <a:p>
            <a:pPr algn="ctr"/>
            <a:r>
              <a:rPr lang="en-US" b="1" dirty="0">
                <a:solidFill>
                  <a:schemeClr val="dk1"/>
                </a:solidFill>
                <a:latin typeface="Times New Roman" panose="02020603050405020304" pitchFamily="18" charset="0"/>
                <a:ea typeface="Calibri"/>
                <a:cs typeface="Times New Roman" panose="02020603050405020304" pitchFamily="18" charset="0"/>
                <a:sym typeface="Calibri"/>
              </a:rPr>
              <a:t>SCHOOL OF COMPUTING</a:t>
            </a:r>
            <a:endParaRPr dirty="0">
              <a:solidFill>
                <a:schemeClr val="dk1"/>
              </a:solidFill>
              <a:latin typeface="Times New Roman" panose="02020603050405020304" pitchFamily="18" charset="0"/>
              <a:ea typeface="Calibri"/>
              <a:cs typeface="Times New Roman" panose="02020603050405020304" pitchFamily="18" charset="0"/>
              <a:sym typeface="Calibri"/>
            </a:endParaRPr>
          </a:p>
          <a:p>
            <a:pPr algn="ctr"/>
            <a:r>
              <a:rPr lang="en-US" b="1" dirty="0">
                <a:solidFill>
                  <a:schemeClr val="dk1"/>
                </a:solidFill>
                <a:latin typeface="Times New Roman" panose="02020603050405020304" pitchFamily="18" charset="0"/>
                <a:ea typeface="Calibri"/>
                <a:cs typeface="Times New Roman" panose="02020603050405020304" pitchFamily="18" charset="0"/>
                <a:sym typeface="Calibri"/>
              </a:rPr>
              <a:t>DEPARTMENT OF COMPUTING TECHNOLOGIES</a:t>
            </a:r>
            <a:endParaRPr dirty="0">
              <a:solidFill>
                <a:schemeClr val="dk1"/>
              </a:solidFill>
              <a:latin typeface="Times New Roman" panose="02020603050405020304" pitchFamily="18" charset="0"/>
              <a:ea typeface="Calibri"/>
              <a:cs typeface="Times New Roman" panose="02020603050405020304" pitchFamily="18" charset="0"/>
              <a:sym typeface="Calibri"/>
            </a:endParaRPr>
          </a:p>
          <a:p>
            <a:pPr algn="ctr"/>
            <a:r>
              <a:rPr lang="en-IN" b="1" dirty="0"/>
              <a:t>18CSP109L/ 18CSP111L</a:t>
            </a:r>
            <a:r>
              <a:rPr lang="en-US" b="1" dirty="0">
                <a:solidFill>
                  <a:schemeClr val="dk1"/>
                </a:solidFill>
                <a:latin typeface="Times New Roman" panose="02020603050405020304" pitchFamily="18" charset="0"/>
                <a:ea typeface="Calibri"/>
                <a:cs typeface="Times New Roman" panose="02020603050405020304" pitchFamily="18" charset="0"/>
                <a:sym typeface="Calibri"/>
              </a:rPr>
              <a:t>- MAJOR PROJECT </a:t>
            </a:r>
            <a:r>
              <a:rPr lang="en-IN" b="1" dirty="0"/>
              <a:t>REVIEW</a:t>
            </a:r>
            <a:r>
              <a:rPr lang="en-US" b="1" dirty="0">
                <a:solidFill>
                  <a:schemeClr val="dk1"/>
                </a:solidFill>
                <a:latin typeface="Times New Roman" panose="02020603050405020304" pitchFamily="18" charset="0"/>
                <a:ea typeface="Calibri"/>
                <a:cs typeface="Times New Roman" panose="02020603050405020304" pitchFamily="18" charset="0"/>
                <a:sym typeface="Calibri"/>
              </a:rPr>
              <a:t> </a:t>
            </a:r>
            <a:endParaRPr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7" name="Google Shape;89;p1"/>
          <p:cNvSpPr txBox="1">
            <a:spLocks/>
          </p:cNvSpPr>
          <p:nvPr/>
        </p:nvSpPr>
        <p:spPr>
          <a:xfrm>
            <a:off x="1752600" y="4512130"/>
            <a:ext cx="3471862" cy="119062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nSpc>
                <a:spcPct val="170000"/>
              </a:lnSpc>
              <a:spcBef>
                <a:spcPts val="592"/>
              </a:spcBef>
              <a:buSzPct val="100000"/>
            </a:pPr>
            <a:r>
              <a:rPr lang="en-US" sz="1600" dirty="0">
                <a:solidFill>
                  <a:schemeClr val="tx1"/>
                </a:solidFill>
                <a:latin typeface="Times New Roman" panose="02020603050405020304" pitchFamily="18" charset="0"/>
                <a:cs typeface="Times New Roman" panose="02020603050405020304" pitchFamily="18" charset="0"/>
              </a:rPr>
              <a:t>Guide name: Dr. M Karthikeyan</a:t>
            </a:r>
          </a:p>
          <a:p>
            <a:pPr marL="0" indent="0">
              <a:lnSpc>
                <a:spcPct val="170000"/>
              </a:lnSpc>
              <a:spcBef>
                <a:spcPts val="592"/>
              </a:spcBef>
              <a:buSzPct val="100000"/>
            </a:pPr>
            <a:r>
              <a:rPr lang="en-US" sz="1600" dirty="0">
                <a:solidFill>
                  <a:schemeClr val="tx1"/>
                </a:solidFill>
                <a:latin typeface="Times New Roman" panose="02020603050405020304" pitchFamily="18" charset="0"/>
                <a:cs typeface="Times New Roman" panose="02020603050405020304" pitchFamily="18" charset="0"/>
              </a:rPr>
              <a:t>Designation: Assistant Professor</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Department: C-Tech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9D228-A53E-01B7-9418-04A6D7E74E62}"/>
              </a:ext>
            </a:extLst>
          </p:cNvPr>
          <p:cNvSpPr>
            <a:spLocks noGrp="1"/>
          </p:cNvSpPr>
          <p:nvPr>
            <p:ph type="title"/>
          </p:nvPr>
        </p:nvSpPr>
        <p:spPr>
          <a:xfrm>
            <a:off x="838200" y="365125"/>
            <a:ext cx="10515600" cy="734805"/>
          </a:xfrm>
        </p:spPr>
        <p:txBody>
          <a:bodyPr>
            <a:normAutofit/>
          </a:bodyPr>
          <a:lstStyle/>
          <a:p>
            <a:pPr algn="ctr"/>
            <a:r>
              <a:rPr lang="en-IN" sz="2400" dirty="0"/>
              <a:t>ABSTRACT</a:t>
            </a:r>
          </a:p>
        </p:txBody>
      </p:sp>
      <p:sp>
        <p:nvSpPr>
          <p:cNvPr id="3" name="Content Placeholder 2">
            <a:extLst>
              <a:ext uri="{FF2B5EF4-FFF2-40B4-BE49-F238E27FC236}">
                <a16:creationId xmlns:a16="http://schemas.microsoft.com/office/drawing/2014/main" id="{1E7FAC06-7DA3-3180-BA9F-7036FE1E45E7}"/>
              </a:ext>
            </a:extLst>
          </p:cNvPr>
          <p:cNvSpPr>
            <a:spLocks noGrp="1"/>
          </p:cNvSpPr>
          <p:nvPr>
            <p:ph idx="1"/>
          </p:nvPr>
        </p:nvSpPr>
        <p:spPr>
          <a:xfrm>
            <a:off x="838200" y="993912"/>
            <a:ext cx="10515600" cy="5724939"/>
          </a:xfrm>
        </p:spPr>
        <p:txBody>
          <a:bodyPr>
            <a:normAutofit/>
          </a:bodyPr>
          <a:lstStyle/>
          <a:p>
            <a:pPr marL="0" indent="0" algn="just">
              <a:buNone/>
            </a:pPr>
            <a:r>
              <a:rPr lang="en-GB" sz="1800" dirty="0"/>
              <a:t>In the contemporary workplace, sedentary activities and poor posture contribute to health issues such as musculoskeletal disorders and decreased productivity. This project proposes the development of a Smart System for Workplace Posture Monitoring utilizing camera technology to address these concerns. The system employs computer vision algorithms to </a:t>
            </a:r>
            <a:r>
              <a:rPr lang="en-GB" sz="1800" dirty="0" err="1"/>
              <a:t>analyze</a:t>
            </a:r>
            <a:r>
              <a:rPr lang="en-GB" sz="1800" dirty="0"/>
              <a:t> and assess the posture of individuals within a workplace environment.</a:t>
            </a:r>
          </a:p>
          <a:p>
            <a:pPr marL="0" indent="0" algn="just">
              <a:buNone/>
            </a:pPr>
            <a:r>
              <a:rPr lang="en-GB" sz="1800" dirty="0"/>
              <a:t>The core components of the proposed system include a network of cameras strategically placed in the workplace, leveraging advanced image processing techniques to detect and </a:t>
            </a:r>
            <a:r>
              <a:rPr lang="en-GB" sz="1800" dirty="0" err="1"/>
              <a:t>analyze</a:t>
            </a:r>
            <a:r>
              <a:rPr lang="en-GB" sz="1800" dirty="0"/>
              <a:t> body postures. The system focuses on identifying ergonomic deviations and provides real-time feedback to individuals, promoting awareness and encouraging corrective actions.</a:t>
            </a:r>
          </a:p>
          <a:p>
            <a:pPr marL="0" indent="0" algn="just">
              <a:buNone/>
            </a:pPr>
            <a:endParaRPr lang="en-GB" sz="1800" dirty="0"/>
          </a:p>
          <a:p>
            <a:pPr marL="0" indent="0" algn="just">
              <a:buNone/>
            </a:pPr>
            <a:r>
              <a:rPr lang="en-GB" sz="1800" dirty="0"/>
              <a:t>Key features of the Smart System include:</a:t>
            </a:r>
          </a:p>
          <a:p>
            <a:pPr marL="0" indent="0" algn="just">
              <a:buNone/>
            </a:pPr>
            <a:r>
              <a:rPr lang="en-GB" sz="1800" dirty="0"/>
              <a:t>Posture Recognition: Utilizing computer vision algorithms to accurately identify and evaluate the posture of individuals in real-time.</a:t>
            </a:r>
          </a:p>
          <a:p>
            <a:pPr marL="0" indent="0" algn="just">
              <a:buNone/>
            </a:pPr>
            <a:r>
              <a:rPr lang="en-GB" sz="1800" dirty="0"/>
              <a:t>Data Logging and Analysis: Logging and </a:t>
            </a:r>
            <a:r>
              <a:rPr lang="en-GB" sz="1800" dirty="0" err="1"/>
              <a:t>analyzing</a:t>
            </a:r>
            <a:r>
              <a:rPr lang="en-GB" sz="1800" dirty="0"/>
              <a:t> posture data over time to identify patterns and trends, allowing for personalized insights and recommendations.</a:t>
            </a:r>
          </a:p>
          <a:p>
            <a:pPr marL="0" indent="0" algn="just">
              <a:buNone/>
            </a:pPr>
            <a:r>
              <a:rPr lang="en-GB" sz="1800" dirty="0"/>
              <a:t>Real-time Feedback: Providing immediate feedback to users through visual or auditory cues to correct poor postures, fostering continuous improvement.</a:t>
            </a:r>
          </a:p>
          <a:p>
            <a:pPr marL="0" indent="0" algn="just">
              <a:buNone/>
            </a:pPr>
            <a:r>
              <a:rPr lang="en-GB" sz="1800" dirty="0"/>
              <a:t>User-Friendly Interface: Offering an intuitive interface for users to access their posture-related data, set personalized goals, and track their progress over time.</a:t>
            </a:r>
          </a:p>
          <a:p>
            <a:pPr marL="0" indent="0" algn="just">
              <a:buNone/>
            </a:pPr>
            <a:endParaRPr lang="en-IN" sz="1800" dirty="0"/>
          </a:p>
        </p:txBody>
      </p:sp>
    </p:spTree>
    <p:extLst>
      <p:ext uri="{BB962C8B-B14F-4D97-AF65-F5344CB8AC3E}">
        <p14:creationId xmlns:p14="http://schemas.microsoft.com/office/powerpoint/2010/main" val="518751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73215B-C1B7-C7B6-DD3D-0DB027FA2509}"/>
              </a:ext>
            </a:extLst>
          </p:cNvPr>
          <p:cNvSpPr>
            <a:spLocks noGrp="1"/>
          </p:cNvSpPr>
          <p:nvPr>
            <p:ph idx="1"/>
          </p:nvPr>
        </p:nvSpPr>
        <p:spPr>
          <a:xfrm>
            <a:off x="838200" y="225286"/>
            <a:ext cx="10515600" cy="6506817"/>
          </a:xfrm>
        </p:spPr>
        <p:txBody>
          <a:bodyPr>
            <a:normAutofit/>
          </a:bodyPr>
          <a:lstStyle/>
          <a:p>
            <a:pPr marL="0" indent="0" algn="just">
              <a:buNone/>
            </a:pPr>
            <a:r>
              <a:rPr lang="en-GB" sz="1800" dirty="0"/>
              <a:t>Integration with Health and Wellness Programs: Collaborating with existing workplace health initiatives to seamlessly integrate the posture monitoring system into broader wellness programs.</a:t>
            </a:r>
          </a:p>
          <a:p>
            <a:pPr marL="0" indent="0" algn="just">
              <a:buNone/>
            </a:pPr>
            <a:r>
              <a:rPr lang="en-GB" sz="1800" dirty="0"/>
              <a:t>Privacy and Security: Implementing robust security measures and anonymizing data to address privacy concerns, ensuring the system complies with ethical standards.</a:t>
            </a:r>
          </a:p>
          <a:p>
            <a:pPr marL="0" indent="0" algn="just">
              <a:buNone/>
            </a:pPr>
            <a:endParaRPr lang="en-GB" sz="1800" dirty="0"/>
          </a:p>
          <a:p>
            <a:pPr marL="0" indent="0" algn="just">
              <a:buNone/>
            </a:pPr>
            <a:r>
              <a:rPr lang="en-GB" sz="1800" dirty="0"/>
              <a:t>The implementation of this Smart System aims to contribute to a healthier and more ergonomic workplace environment, reducing the risk of musculoskeletal issues and improving overall employee well-being. By combining camera technology, computer vision, and real-time feedback, the proposed system offers a proactive approach to posture management, fostering a culture of health and productivity in the modern workplace.</a:t>
            </a:r>
          </a:p>
          <a:p>
            <a:pPr marL="0" indent="0" algn="just">
              <a:buNone/>
            </a:pPr>
            <a:endParaRPr lang="en-GB" sz="1800" dirty="0"/>
          </a:p>
          <a:p>
            <a:pPr marL="0" indent="0" algn="just">
              <a:buNone/>
            </a:pPr>
            <a:endParaRPr lang="en-GB" sz="1800" dirty="0"/>
          </a:p>
          <a:p>
            <a:pPr marL="0" indent="0" algn="just">
              <a:buNone/>
            </a:pPr>
            <a:endParaRPr lang="en-GB" sz="1800" dirty="0"/>
          </a:p>
          <a:p>
            <a:pPr marL="0" indent="0" algn="just">
              <a:buNone/>
            </a:pPr>
            <a:endParaRPr lang="en-GB" sz="1800" dirty="0"/>
          </a:p>
          <a:p>
            <a:pPr marL="0" indent="0" algn="just">
              <a:buNone/>
            </a:pPr>
            <a:endParaRPr lang="en-GB" sz="1800" dirty="0"/>
          </a:p>
          <a:p>
            <a:pPr marL="0" indent="0" algn="just">
              <a:buNone/>
            </a:pPr>
            <a:endParaRPr lang="en-IN" sz="1800" dirty="0"/>
          </a:p>
        </p:txBody>
      </p:sp>
    </p:spTree>
    <p:extLst>
      <p:ext uri="{BB962C8B-B14F-4D97-AF65-F5344CB8AC3E}">
        <p14:creationId xmlns:p14="http://schemas.microsoft.com/office/powerpoint/2010/main" val="4091631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0A2B9-E0C8-BF5D-F9C8-B0ED97C022AD}"/>
              </a:ext>
            </a:extLst>
          </p:cNvPr>
          <p:cNvSpPr>
            <a:spLocks noGrp="1"/>
          </p:cNvSpPr>
          <p:nvPr>
            <p:ph type="title"/>
          </p:nvPr>
        </p:nvSpPr>
        <p:spPr>
          <a:xfrm>
            <a:off x="838200" y="172278"/>
            <a:ext cx="10515600" cy="662609"/>
          </a:xfrm>
        </p:spPr>
        <p:txBody>
          <a:bodyPr>
            <a:normAutofit/>
          </a:bodyPr>
          <a:lstStyle/>
          <a:p>
            <a:pPr algn="ctr"/>
            <a:r>
              <a:rPr lang="en-IN" sz="2400" dirty="0"/>
              <a:t>INTRODUCTION</a:t>
            </a:r>
          </a:p>
        </p:txBody>
      </p:sp>
      <p:sp>
        <p:nvSpPr>
          <p:cNvPr id="3" name="Content Placeholder 2">
            <a:extLst>
              <a:ext uri="{FF2B5EF4-FFF2-40B4-BE49-F238E27FC236}">
                <a16:creationId xmlns:a16="http://schemas.microsoft.com/office/drawing/2014/main" id="{9972047D-D4AE-B4B4-C391-6517E7DEB580}"/>
              </a:ext>
            </a:extLst>
          </p:cNvPr>
          <p:cNvSpPr>
            <a:spLocks noGrp="1"/>
          </p:cNvSpPr>
          <p:nvPr>
            <p:ph idx="1"/>
          </p:nvPr>
        </p:nvSpPr>
        <p:spPr>
          <a:xfrm>
            <a:off x="838200" y="834887"/>
            <a:ext cx="10515600" cy="5850835"/>
          </a:xfrm>
        </p:spPr>
        <p:txBody>
          <a:bodyPr>
            <a:normAutofit/>
          </a:bodyPr>
          <a:lstStyle/>
          <a:p>
            <a:pPr marL="0" indent="0" algn="just">
              <a:buNone/>
            </a:pPr>
            <a:r>
              <a:rPr lang="en-GB" sz="1800" dirty="0"/>
              <a:t>In today's fast-paced and technology-driven work environments, maintaining optimal workplace ergonomics is crucial for the health and productivity of employees. Prolonged sitting, incorrect posture, and repetitive movements can lead to various musculoskeletal disorders, affecting the overall well-being of individuals. To address these challenges, the integration of cutting-edge technology becomes imperative, giving rise to innovative solutions such as the "Smart System for Workplace Posture Monitoring with the Help of Camera.“</a:t>
            </a:r>
          </a:p>
          <a:p>
            <a:pPr marL="0" indent="0" algn="just">
              <a:buNone/>
            </a:pPr>
            <a:r>
              <a:rPr lang="en-GB" sz="1800" dirty="0"/>
              <a:t>This project aims to revolutionize workplace ergonomics by leveraging computer vision and artificial intelligence to monitor and </a:t>
            </a:r>
            <a:r>
              <a:rPr lang="en-GB" sz="1800" dirty="0" err="1"/>
              <a:t>analyze</a:t>
            </a:r>
            <a:r>
              <a:rPr lang="en-GB" sz="1800" dirty="0"/>
              <a:t> the posture of individuals in real-time. The system utilizes cameras strategically placed within the workspace to capture and process visual data, providing valuable insights into employees' postural habits.</a:t>
            </a:r>
          </a:p>
          <a:p>
            <a:pPr marL="0" indent="0" algn="just">
              <a:buNone/>
            </a:pPr>
            <a:endParaRPr lang="en-IN" sz="1800" dirty="0"/>
          </a:p>
        </p:txBody>
      </p:sp>
      <p:pic>
        <p:nvPicPr>
          <p:cNvPr id="5" name="Picture 4" descr="A diagram of a system&#10;&#10;Description automatically generated">
            <a:extLst>
              <a:ext uri="{FF2B5EF4-FFF2-40B4-BE49-F238E27FC236}">
                <a16:creationId xmlns:a16="http://schemas.microsoft.com/office/drawing/2014/main" id="{4BC86C54-714D-A081-1588-4367D86A06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2956" y="3429000"/>
            <a:ext cx="6832844" cy="3256722"/>
          </a:xfrm>
          <a:prstGeom prst="rect">
            <a:avLst/>
          </a:prstGeom>
        </p:spPr>
      </p:pic>
    </p:spTree>
    <p:extLst>
      <p:ext uri="{BB962C8B-B14F-4D97-AF65-F5344CB8AC3E}">
        <p14:creationId xmlns:p14="http://schemas.microsoft.com/office/powerpoint/2010/main" val="3999733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AD984-0489-8D4B-1914-053CD9B77CEF}"/>
              </a:ext>
            </a:extLst>
          </p:cNvPr>
          <p:cNvSpPr>
            <a:spLocks noGrp="1"/>
          </p:cNvSpPr>
          <p:nvPr>
            <p:ph type="title"/>
          </p:nvPr>
        </p:nvSpPr>
        <p:spPr>
          <a:xfrm>
            <a:off x="838200" y="172279"/>
            <a:ext cx="10515600" cy="821634"/>
          </a:xfrm>
        </p:spPr>
        <p:txBody>
          <a:bodyPr>
            <a:normAutofit/>
          </a:bodyPr>
          <a:lstStyle/>
          <a:p>
            <a:pPr algn="ctr"/>
            <a:r>
              <a:rPr lang="en-IN" sz="2400" dirty="0"/>
              <a:t>MOTIVATION</a:t>
            </a:r>
          </a:p>
        </p:txBody>
      </p:sp>
      <p:sp>
        <p:nvSpPr>
          <p:cNvPr id="3" name="Content Placeholder 2">
            <a:extLst>
              <a:ext uri="{FF2B5EF4-FFF2-40B4-BE49-F238E27FC236}">
                <a16:creationId xmlns:a16="http://schemas.microsoft.com/office/drawing/2014/main" id="{C89BFE6B-0F56-892A-5918-99DC725A5B3B}"/>
              </a:ext>
            </a:extLst>
          </p:cNvPr>
          <p:cNvSpPr>
            <a:spLocks noGrp="1"/>
          </p:cNvSpPr>
          <p:nvPr>
            <p:ph idx="1"/>
          </p:nvPr>
        </p:nvSpPr>
        <p:spPr>
          <a:xfrm>
            <a:off x="838200" y="887896"/>
            <a:ext cx="10515600" cy="5797825"/>
          </a:xfrm>
        </p:spPr>
        <p:txBody>
          <a:bodyPr>
            <a:normAutofit/>
          </a:bodyPr>
          <a:lstStyle/>
          <a:p>
            <a:pPr marL="0" indent="0" algn="just">
              <a:buNone/>
            </a:pPr>
            <a:r>
              <a:rPr lang="en-GB" sz="1800" dirty="0"/>
              <a:t>The motivation behind the project title, "Smart System for Workplace Posture Monitoring with the Help of Camera," is multifaceted, addressing several crucial aspects of contemporary work environments. First and foremost, the project is driven by a concern for the health and well-being of individuals engaged in sedentary work, where extended hours at desks have become synonymous with musculoskeletal issues and discomfort. The implementation of a smart posture monitoring system emerges as a potential solution to mitigate these concerns, offering users a proactive tool to maintain better posture and reduce the risk of chronic health problems.</a:t>
            </a:r>
          </a:p>
          <a:p>
            <a:pPr marL="0" indent="0" algn="just">
              <a:buNone/>
            </a:pPr>
            <a:r>
              <a:rPr lang="en-GB" sz="1800" dirty="0"/>
              <a:t>Beyond health considerations, the project is motivated by the prospect of enhancing productivity in the workplace. Recognizing the close correlation between proper posture and increased concentration, focus, and overall efficiency, the use of a camera-based system seeks to actively assist users in maintaining optimal postures. This emphasis on productivity aligns with the broader goal of creating a technology-driven solution that positively impacts work performance.</a:t>
            </a:r>
          </a:p>
          <a:p>
            <a:pPr marL="0" indent="0" algn="just">
              <a:buNone/>
            </a:pPr>
            <a:r>
              <a:rPr lang="en-GB" sz="1800" dirty="0"/>
              <a:t>Furthermore, the project draws motivation from technological innovation, showcasing a cutting-edge approach to addressing a common issue in modern workplaces. By leveraging camera technology and smart systems, the project seeks to demonstrate the potential of advanced technologies in fostering healthier work environments.</a:t>
            </a:r>
          </a:p>
          <a:p>
            <a:pPr marL="0" indent="0" algn="just">
              <a:buNone/>
            </a:pPr>
            <a:r>
              <a:rPr lang="en-GB" sz="1800" dirty="0"/>
              <a:t>The importance of user engagement and awareness is another driving factor. The project title underscores the active involvement of individuals in monitoring and improving their own posture. Through real-time feedback facilitated by the camera-based system, users can heighten their awareness of their habits and make conscious efforts to adopt healthier postures, promoting a sense of personal responsibility for well-being.</a:t>
            </a:r>
          </a:p>
          <a:p>
            <a:pPr marL="0" indent="0" algn="just">
              <a:buNone/>
            </a:pPr>
            <a:endParaRPr lang="en-GB" sz="1800" dirty="0"/>
          </a:p>
        </p:txBody>
      </p:sp>
    </p:spTree>
    <p:extLst>
      <p:ext uri="{BB962C8B-B14F-4D97-AF65-F5344CB8AC3E}">
        <p14:creationId xmlns:p14="http://schemas.microsoft.com/office/powerpoint/2010/main" val="1290172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164265-9908-8D36-3C39-A414BA63B6AB}"/>
              </a:ext>
            </a:extLst>
          </p:cNvPr>
          <p:cNvSpPr>
            <a:spLocks noGrp="1"/>
          </p:cNvSpPr>
          <p:nvPr>
            <p:ph idx="1"/>
          </p:nvPr>
        </p:nvSpPr>
        <p:spPr>
          <a:xfrm>
            <a:off x="838200" y="278296"/>
            <a:ext cx="10515600" cy="6347791"/>
          </a:xfrm>
        </p:spPr>
        <p:txBody>
          <a:bodyPr>
            <a:normAutofit/>
          </a:bodyPr>
          <a:lstStyle/>
          <a:p>
            <a:pPr marL="0" indent="0" algn="just">
              <a:buNone/>
            </a:pPr>
            <a:r>
              <a:rPr lang="en-GB" sz="1800" dirty="0"/>
              <a:t>Additionally, the project is motivated by a desire to prevent work-related injuries, recognizing poor workplace posture as a significant contributor to such incidents. The proactive nature of the solution aims to address and alleviate discomfort associated with prolonged periods of sitting or improper positioning, contributing to a safer and healthier work environment.</a:t>
            </a:r>
          </a:p>
          <a:p>
            <a:pPr marL="0" indent="0" algn="just">
              <a:buNone/>
            </a:pPr>
            <a:r>
              <a:rPr lang="en-GB" sz="1800" dirty="0"/>
              <a:t>Finally, the motivation extends to customization and adaptability, acknowledging that a one-size-fits-all approach may not be effective. The use of a smart system implies the potential for tailoring the experience to individual preferences and needs, adding a motivational aspect for users who can personalize their posture monitoring and witness tangible benefits tailored to their specific requirements. In essence, the project title encapsulates a comprehensive motivation rooted in health, productivity, innovation, user engagement, injury prevention, and customization.</a:t>
            </a:r>
            <a:endParaRPr lang="en-IN" sz="1800" dirty="0"/>
          </a:p>
          <a:p>
            <a:pPr marL="0" indent="0" algn="just">
              <a:buNone/>
            </a:pPr>
            <a:endParaRPr lang="en-IN" sz="1800" dirty="0"/>
          </a:p>
        </p:txBody>
      </p:sp>
    </p:spTree>
    <p:extLst>
      <p:ext uri="{BB962C8B-B14F-4D97-AF65-F5344CB8AC3E}">
        <p14:creationId xmlns:p14="http://schemas.microsoft.com/office/powerpoint/2010/main" val="321590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8A0A6-4A6E-FFFB-41FF-25AF454B05A0}"/>
              </a:ext>
            </a:extLst>
          </p:cNvPr>
          <p:cNvSpPr>
            <a:spLocks noGrp="1"/>
          </p:cNvSpPr>
          <p:nvPr>
            <p:ph type="title"/>
          </p:nvPr>
        </p:nvSpPr>
        <p:spPr>
          <a:xfrm>
            <a:off x="838200" y="159025"/>
            <a:ext cx="10515600" cy="874645"/>
          </a:xfrm>
        </p:spPr>
        <p:txBody>
          <a:bodyPr>
            <a:normAutofit/>
          </a:bodyPr>
          <a:lstStyle/>
          <a:p>
            <a:pPr algn="ctr"/>
            <a:r>
              <a:rPr lang="en-IN" sz="2400" dirty="0"/>
              <a:t>INNOVATION</a:t>
            </a:r>
          </a:p>
        </p:txBody>
      </p:sp>
      <p:sp>
        <p:nvSpPr>
          <p:cNvPr id="3" name="Content Placeholder 2">
            <a:extLst>
              <a:ext uri="{FF2B5EF4-FFF2-40B4-BE49-F238E27FC236}">
                <a16:creationId xmlns:a16="http://schemas.microsoft.com/office/drawing/2014/main" id="{7E807B7B-70AE-5FAD-0BE3-69DB5960D2AD}"/>
              </a:ext>
            </a:extLst>
          </p:cNvPr>
          <p:cNvSpPr>
            <a:spLocks noGrp="1"/>
          </p:cNvSpPr>
          <p:nvPr>
            <p:ph idx="1"/>
          </p:nvPr>
        </p:nvSpPr>
        <p:spPr>
          <a:xfrm>
            <a:off x="838200" y="1033670"/>
            <a:ext cx="10515600" cy="5665305"/>
          </a:xfrm>
        </p:spPr>
        <p:txBody>
          <a:bodyPr>
            <a:normAutofit/>
          </a:bodyPr>
          <a:lstStyle/>
          <a:p>
            <a:pPr marL="0" indent="0" algn="just">
              <a:buNone/>
            </a:pPr>
            <a:r>
              <a:rPr lang="en-GB" sz="1800" dirty="0"/>
              <a:t>Posture Detection is an innovative project that aims to revolutionize workplace health and productivity by introducing a cutting-edge smart system for posture monitoring. Leveraging advanced camera technology, this system is designed to intelligently track and </a:t>
            </a:r>
            <a:r>
              <a:rPr lang="en-GB" sz="1800" dirty="0" err="1"/>
              <a:t>analyze</a:t>
            </a:r>
            <a:r>
              <a:rPr lang="en-GB" sz="1800" dirty="0"/>
              <a:t> the posture of individuals in a workplace environment. The primary objective of Posture Detection is to promote ergonomic awareness and prevent musculoskeletal issues by providing real-time feedback on employees' sitting or standing positions.</a:t>
            </a:r>
          </a:p>
          <a:p>
            <a:pPr marL="0" indent="0" algn="just">
              <a:buNone/>
            </a:pPr>
            <a:r>
              <a:rPr lang="en-GB" sz="1800" dirty="0"/>
              <a:t>The system utilizes computer vision algorithms to accurately detect and assess various aspects of posture, such as spinal alignment, head position, and shoulder placement. By employing machine learning techniques, Posture Detection adapts to individual body types and preferences, ensuring personalized feedback that caters to each user's unique needs. The system can be easily integrated into existing office setups, utilizing the cameras already present in devices such as laptops or desktops.</a:t>
            </a:r>
          </a:p>
          <a:p>
            <a:pPr marL="0" indent="0" algn="just">
              <a:buNone/>
            </a:pPr>
            <a:r>
              <a:rPr lang="en-GB" sz="1800" dirty="0"/>
              <a:t>Privacy and security are paramount considerations in the development of Posture Detection. The system prioritizes user confidentiality by employing state-of-the-art encryption and anonymization techniques, ensuring that posture monitoring remains focused on improving health without compromising personal privacy.</a:t>
            </a:r>
          </a:p>
          <a:p>
            <a:pPr marL="0" indent="0" algn="just">
              <a:buNone/>
            </a:pPr>
            <a:r>
              <a:rPr lang="en-GB" sz="1800" dirty="0" err="1"/>
              <a:t>PostureGuard</a:t>
            </a:r>
            <a:r>
              <a:rPr lang="en-GB" sz="1800" dirty="0"/>
              <a:t> not only monitors posture but also actively engages users through real-time alerts and suggestions. When suboptimal posture is detected, the system provides immediate feedback, encouraging users to make adjustments and adopt healthier positions. Over time, the system gathers data on individual habits and trends, offering insightful analytics to both employees and employers. This information can be utilized to implement targeted wellness programs, ergonomic improvements, and tailored training sessions to enhance overall workplace health.</a:t>
            </a:r>
          </a:p>
          <a:p>
            <a:pPr marL="0" indent="0" algn="just">
              <a:buNone/>
            </a:pPr>
            <a:endParaRPr lang="en-GB" sz="1800" dirty="0"/>
          </a:p>
        </p:txBody>
      </p:sp>
    </p:spTree>
    <p:extLst>
      <p:ext uri="{BB962C8B-B14F-4D97-AF65-F5344CB8AC3E}">
        <p14:creationId xmlns:p14="http://schemas.microsoft.com/office/powerpoint/2010/main" val="2035456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78F00-5878-6A2A-5883-654FC3DF80A4}"/>
              </a:ext>
            </a:extLst>
          </p:cNvPr>
          <p:cNvSpPr>
            <a:spLocks noGrp="1"/>
          </p:cNvSpPr>
          <p:nvPr>
            <p:ph type="title"/>
          </p:nvPr>
        </p:nvSpPr>
        <p:spPr>
          <a:xfrm>
            <a:off x="838200" y="365125"/>
            <a:ext cx="10515600" cy="721553"/>
          </a:xfrm>
        </p:spPr>
        <p:txBody>
          <a:bodyPr>
            <a:normAutofit/>
          </a:bodyPr>
          <a:lstStyle/>
          <a:p>
            <a:pPr algn="ctr"/>
            <a:r>
              <a:rPr lang="en-IN" sz="2400" dirty="0"/>
              <a:t>BACKLOG REFINEMENT</a:t>
            </a:r>
          </a:p>
        </p:txBody>
      </p:sp>
      <p:sp>
        <p:nvSpPr>
          <p:cNvPr id="3" name="Content Placeholder 2">
            <a:extLst>
              <a:ext uri="{FF2B5EF4-FFF2-40B4-BE49-F238E27FC236}">
                <a16:creationId xmlns:a16="http://schemas.microsoft.com/office/drawing/2014/main" id="{AC4675F0-5474-D529-2100-586C1B82F7C0}"/>
              </a:ext>
            </a:extLst>
          </p:cNvPr>
          <p:cNvSpPr>
            <a:spLocks noGrp="1"/>
          </p:cNvSpPr>
          <p:nvPr>
            <p:ph idx="1"/>
          </p:nvPr>
        </p:nvSpPr>
        <p:spPr>
          <a:xfrm>
            <a:off x="838200" y="1086678"/>
            <a:ext cx="10515600" cy="5618922"/>
          </a:xfrm>
        </p:spPr>
        <p:txBody>
          <a:bodyPr>
            <a:normAutofit fontScale="62500" lnSpcReduction="20000"/>
          </a:bodyPr>
          <a:lstStyle/>
          <a:p>
            <a:pPr marL="0" indent="0" algn="just">
              <a:buNone/>
            </a:pPr>
            <a:r>
              <a:rPr lang="en-GB" dirty="0"/>
              <a:t>In the latest backlog refinement session, several key artifacts were updated during Review 0 of the smart system for workplace posture monitoring project. Firstly, the Product Vision Document underwent significant revisions to reflect the evolving goals and aspirations of the project. The updated document now provides a comprehensive overview of the envisioned future state of the system, outlining its purpose, target audience, and the expected impact on workplace ergonomics.</a:t>
            </a:r>
          </a:p>
          <a:p>
            <a:pPr marL="0" indent="0" algn="just">
              <a:buNone/>
            </a:pPr>
            <a:r>
              <a:rPr lang="en-GB" dirty="0"/>
              <a:t>Simultaneously, the Product Backlog received thorough updates to incorporate new insights, user feedback, and emerging requirements. This involved the addition of user stories, feature enhancements, and adjustments to prioritize high-value functionalities. The aim was to align the backlog more closely with the refined product vision while ensuring flexibility to adapt to potential changes in user needs or technological advancements.</a:t>
            </a:r>
          </a:p>
          <a:p>
            <a:pPr marL="0" indent="0" algn="just">
              <a:buNone/>
            </a:pPr>
            <a:endParaRPr lang="en-GB" dirty="0"/>
          </a:p>
          <a:p>
            <a:pPr marL="0" indent="0" algn="just">
              <a:buNone/>
            </a:pPr>
            <a:r>
              <a:rPr lang="en-GB" dirty="0"/>
              <a:t>Moreover, the Roadmap and Release Plan for the project title were extensively revised to accommodate the changes in the Product Backlog and to reflect a more realistic timeline for the development and deployment phases. The updated roadmap now provides a detailed schedule of key milestones, feature releases, and testing phases, ensuring a well-structured and transparent path towards achieving the project's objectives.</a:t>
            </a:r>
          </a:p>
          <a:p>
            <a:pPr marL="0" indent="0" algn="just">
              <a:buNone/>
            </a:pPr>
            <a:endParaRPr lang="en-GB" dirty="0"/>
          </a:p>
          <a:p>
            <a:pPr marL="0" indent="0" algn="just">
              <a:buNone/>
            </a:pPr>
            <a:r>
              <a:rPr lang="en-GB" dirty="0"/>
              <a:t>Specifically, the smart system for workplace posture monitoring, utilizing camera technology, aims to revolutionize how organizations address ergonomic concerns among their employees. The refined artifacts not only capture the essence of this vision but also articulate the incremental steps and features that will be rolled out over subsequent releases. This includes the integration of advanced posture recognition algorithms, real-time feedback mechanisms, and a user-friendly interface to enhance the overall user experience. The iterative refinement process undertaken in Review 0 ensures that the project remains adaptive, responsive to stakeholder feedback, and well-aligned with the overarching goals of promoting healthier workplace practices through innovative technology.</a:t>
            </a:r>
            <a:endParaRPr lang="en-IN" dirty="0"/>
          </a:p>
        </p:txBody>
      </p:sp>
    </p:spTree>
    <p:extLst>
      <p:ext uri="{BB962C8B-B14F-4D97-AF65-F5344CB8AC3E}">
        <p14:creationId xmlns:p14="http://schemas.microsoft.com/office/powerpoint/2010/main" val="172969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9E6EF-6240-C016-5FB1-BA3BBC460412}"/>
              </a:ext>
            </a:extLst>
          </p:cNvPr>
          <p:cNvSpPr>
            <a:spLocks noGrp="1"/>
          </p:cNvSpPr>
          <p:nvPr>
            <p:ph type="title"/>
          </p:nvPr>
        </p:nvSpPr>
        <p:spPr>
          <a:xfrm>
            <a:off x="838200" y="198783"/>
            <a:ext cx="10515600" cy="728869"/>
          </a:xfrm>
        </p:spPr>
        <p:txBody>
          <a:bodyPr>
            <a:normAutofit/>
          </a:bodyPr>
          <a:lstStyle/>
          <a:p>
            <a:pPr algn="ctr"/>
            <a:r>
              <a:rPr lang="en-IN" sz="2400" dirty="0"/>
              <a:t>SPRINT PLANNING</a:t>
            </a:r>
          </a:p>
        </p:txBody>
      </p:sp>
      <p:sp>
        <p:nvSpPr>
          <p:cNvPr id="3" name="Content Placeholder 2">
            <a:extLst>
              <a:ext uri="{FF2B5EF4-FFF2-40B4-BE49-F238E27FC236}">
                <a16:creationId xmlns:a16="http://schemas.microsoft.com/office/drawing/2014/main" id="{E948D38F-AC04-536A-370F-F96E1A9CA42D}"/>
              </a:ext>
            </a:extLst>
          </p:cNvPr>
          <p:cNvSpPr>
            <a:spLocks noGrp="1"/>
          </p:cNvSpPr>
          <p:nvPr>
            <p:ph idx="1"/>
          </p:nvPr>
        </p:nvSpPr>
        <p:spPr>
          <a:xfrm>
            <a:off x="838200" y="1060174"/>
            <a:ext cx="10515600" cy="5599043"/>
          </a:xfrm>
        </p:spPr>
        <p:txBody>
          <a:bodyPr>
            <a:normAutofit fontScale="92500" lnSpcReduction="20000"/>
          </a:bodyPr>
          <a:lstStyle/>
          <a:p>
            <a:pPr marL="0" indent="0" algn="just">
              <a:buNone/>
            </a:pPr>
            <a:r>
              <a:rPr lang="en-GB" sz="1800" dirty="0"/>
              <a:t>In the sprint planning for the project "Smart System for Workplace Posture Monitoring with Camera Assistance," the team will undertake several crucial tasks to ensure a successful and efficient development process. </a:t>
            </a:r>
          </a:p>
          <a:p>
            <a:pPr marL="0" indent="0" algn="just">
              <a:buNone/>
            </a:pPr>
            <a:endParaRPr lang="en-GB" sz="1800" dirty="0"/>
          </a:p>
          <a:p>
            <a:pPr marL="0" indent="0" algn="just">
              <a:buNone/>
            </a:pPr>
            <a:r>
              <a:rPr lang="en-GB" sz="1800" dirty="0"/>
              <a:t>Firstly, a high-level estimation of all Epics will be conducted. This involves breaking down the overarching features and functionalities into manageable chunks, allowing the team to get a comprehensive understanding of the project scope. These Epics will serve as the building blocks for the subsequent stages of development.</a:t>
            </a:r>
          </a:p>
          <a:p>
            <a:pPr marL="0" indent="0" algn="just">
              <a:buNone/>
            </a:pPr>
            <a:endParaRPr lang="en-GB" sz="1800" dirty="0"/>
          </a:p>
          <a:p>
            <a:pPr marL="0" indent="0" algn="just">
              <a:buNone/>
            </a:pPr>
            <a:r>
              <a:rPr lang="en-GB" sz="1800" dirty="0"/>
              <a:t>Following the high-level estimation, a capacity plan for the current sprint will be established. This involves assessing the team's resources, including the skills and availability of team members, and determining the amount of work that can be realistically accomplished within the sprint timeframe. This capacity plan ensures that the team takes on a workload that aligns with their capabilities.</a:t>
            </a:r>
          </a:p>
          <a:p>
            <a:pPr marL="0" indent="0" algn="just">
              <a:buNone/>
            </a:pPr>
            <a:r>
              <a:rPr lang="en-GB" sz="1800" dirty="0"/>
              <a:t>Moreover, detailed estimations for user stories within the current sprint will be conducted. This involves breaking down the Epics into smaller, more specific tasks or user stories. Each user story will be meticulously estimated, considering factors such as complexity, dependencies, and required effort. These detailed estimations provide the team with a roadmap for the sprint and help in setting achievable sprint goals.</a:t>
            </a:r>
          </a:p>
          <a:p>
            <a:pPr marL="0" indent="0" algn="just">
              <a:buNone/>
            </a:pPr>
            <a:endParaRPr lang="en-GB" sz="1800" dirty="0"/>
          </a:p>
          <a:p>
            <a:pPr marL="0" indent="0" algn="just">
              <a:buNone/>
            </a:pPr>
            <a:r>
              <a:rPr lang="en-GB" sz="1800" dirty="0"/>
              <a:t>The overall objective of the project is to develop a smart system capable of monitoring workplace posture using a camera. The system will leverage advanced computer vision algorithms to </a:t>
            </a:r>
            <a:r>
              <a:rPr lang="en-GB" sz="1800" dirty="0" err="1"/>
              <a:t>analyze</a:t>
            </a:r>
            <a:r>
              <a:rPr lang="en-GB" sz="1800" dirty="0"/>
              <a:t> the posture of individuals in real-time, providing feedback to users about their sitting or standing habits. This not only contributes to the overall health and well-being of employees but also enhances productivity by promoting ergonomic practices in the workplace. The camera-based monitoring system aims to be unobtrusive and user-friendly, ensuring widespread adoption in various office environments. The smart system will also feature data analytics capabilities, allowing organizations to track and </a:t>
            </a:r>
            <a:r>
              <a:rPr lang="en-GB" sz="1800" dirty="0" err="1"/>
              <a:t>analyze</a:t>
            </a:r>
            <a:r>
              <a:rPr lang="en-GB" sz="1800" dirty="0"/>
              <a:t> posture trends over time, potentially preventing workplace-related health issues and promoting a healthier and more productive work environment.</a:t>
            </a:r>
            <a:endParaRPr lang="en-IN" sz="1800" dirty="0"/>
          </a:p>
        </p:txBody>
      </p:sp>
    </p:spTree>
    <p:extLst>
      <p:ext uri="{BB962C8B-B14F-4D97-AF65-F5344CB8AC3E}">
        <p14:creationId xmlns:p14="http://schemas.microsoft.com/office/powerpoint/2010/main" val="2012080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9E66-F65A-D6F2-77E8-1D6DD167F57B}"/>
              </a:ext>
            </a:extLst>
          </p:cNvPr>
          <p:cNvSpPr>
            <a:spLocks noGrp="1"/>
          </p:cNvSpPr>
          <p:nvPr>
            <p:ph type="title"/>
          </p:nvPr>
        </p:nvSpPr>
        <p:spPr>
          <a:xfrm>
            <a:off x="838200" y="159027"/>
            <a:ext cx="10515600" cy="821634"/>
          </a:xfrm>
        </p:spPr>
        <p:txBody>
          <a:bodyPr>
            <a:normAutofit/>
          </a:bodyPr>
          <a:lstStyle/>
          <a:p>
            <a:pPr algn="ctr"/>
            <a:r>
              <a:rPr lang="en-IN" sz="2400" dirty="0"/>
              <a:t>FUNCTIONAL DOCUMENTS</a:t>
            </a:r>
          </a:p>
        </p:txBody>
      </p:sp>
      <p:sp>
        <p:nvSpPr>
          <p:cNvPr id="3" name="Content Placeholder 2">
            <a:extLst>
              <a:ext uri="{FF2B5EF4-FFF2-40B4-BE49-F238E27FC236}">
                <a16:creationId xmlns:a16="http://schemas.microsoft.com/office/drawing/2014/main" id="{9111A2BD-BE67-DF8D-66F8-3104BF05D9CB}"/>
              </a:ext>
            </a:extLst>
          </p:cNvPr>
          <p:cNvSpPr>
            <a:spLocks noGrp="1"/>
          </p:cNvSpPr>
          <p:nvPr>
            <p:ph idx="1"/>
          </p:nvPr>
        </p:nvSpPr>
        <p:spPr>
          <a:xfrm>
            <a:off x="838200" y="980661"/>
            <a:ext cx="10515600" cy="5718312"/>
          </a:xfrm>
        </p:spPr>
        <p:txBody>
          <a:bodyPr>
            <a:normAutofit fontScale="92500" lnSpcReduction="20000"/>
          </a:bodyPr>
          <a:lstStyle/>
          <a:p>
            <a:pPr marL="0" indent="0" algn="just">
              <a:buNone/>
            </a:pPr>
            <a:r>
              <a:rPr lang="en-GB" sz="1800" dirty="0"/>
              <a:t>The project, titled "Smart System for Workplace Posture Monitoring with Camera," aims to develop an innovative solution for promoting healthy and ergonomic work environments by leveraging advanced camera technology. The functional documents for this project outline a comprehensive framework that integrates computer vision and machine learning techniques to monitor and </a:t>
            </a:r>
            <a:r>
              <a:rPr lang="en-GB" sz="1800" dirty="0" err="1"/>
              <a:t>analyze</a:t>
            </a:r>
            <a:r>
              <a:rPr lang="en-GB" sz="1800" dirty="0"/>
              <a:t> the posture of individuals within a workplace setting. The primary objective is to address the growing concern of poor posture-related health issues by providing real-time feedback to users, enabling them to maintain optimal ergonomic positions during work hours.</a:t>
            </a:r>
          </a:p>
          <a:p>
            <a:pPr marL="0" indent="0" algn="just">
              <a:buNone/>
            </a:pPr>
            <a:endParaRPr lang="en-GB" sz="1800" dirty="0"/>
          </a:p>
          <a:p>
            <a:pPr marL="0" indent="0" algn="just">
              <a:buNone/>
            </a:pPr>
            <a:r>
              <a:rPr lang="en-GB" sz="1800" dirty="0"/>
              <a:t>The system will be designed to utilize cameras strategically placed in workspaces to capture images or video footage of employees. These captured visuals will then be processed through sophisticated computer vision algorithms that can accurately identify and </a:t>
            </a:r>
            <a:r>
              <a:rPr lang="en-GB" sz="1800" dirty="0" err="1"/>
              <a:t>analyze</a:t>
            </a:r>
            <a:r>
              <a:rPr lang="en-GB" sz="1800" dirty="0"/>
              <a:t> the posture of individuals. The functional specifications detail the specific postures and ergonomic guidelines that the system will be programmed to recognize, including proper sitting positions, monitor heights, and keyboard placements. The system will be intelligent enough to distinguish between various postures, such as slouching, leaning, or incorrect desk setups, and provide timely alerts or visual cues to users through a user-friendly interface.</a:t>
            </a:r>
          </a:p>
          <a:p>
            <a:pPr marL="0" indent="0" algn="just">
              <a:buNone/>
            </a:pPr>
            <a:r>
              <a:rPr lang="en-GB" sz="1800" dirty="0"/>
              <a:t>Additionally, the functional documents emphasize the integration of machine learning algorithms to enhance the system's adaptability and accuracy over time. The system will learn from user </a:t>
            </a:r>
            <a:r>
              <a:rPr lang="en-GB" sz="1800" dirty="0" err="1"/>
              <a:t>behavior</a:t>
            </a:r>
            <a:r>
              <a:rPr lang="en-GB" sz="1800" dirty="0"/>
              <a:t>, continually refining its posture recognition capabilities and adapting to individual preferences. The project also involves developing a centralized monitoring dashboard that allows administrators or health and safety personnel to track and </a:t>
            </a:r>
            <a:r>
              <a:rPr lang="en-GB" sz="1800" dirty="0" err="1"/>
              <a:t>analyze</a:t>
            </a:r>
            <a:r>
              <a:rPr lang="en-GB" sz="1800" dirty="0"/>
              <a:t> the overall posture trends within the organization. The dashboard will provide insights into employee well-being, allowing for proactive interventions to prevent potential health issues associated with poor posture.</a:t>
            </a:r>
          </a:p>
          <a:p>
            <a:pPr marL="0" indent="0" algn="just">
              <a:buNone/>
            </a:pPr>
            <a:endParaRPr lang="en-GB" sz="1800" dirty="0"/>
          </a:p>
          <a:p>
            <a:pPr marL="0" indent="0" algn="just">
              <a:buNone/>
            </a:pPr>
            <a:r>
              <a:rPr lang="en-GB" sz="1800" dirty="0"/>
              <a:t>To ensure the privacy and security of the individuals being monitored, the functional documents include robust measures for data protection and compliance with relevant regulations. The system will prioritize anonymizing and encrypting data, and access controls will be implemented to restrict unauthorized usage. Overall, the "Smart System for Workplace Posture Monitoring with Camera" project aims to revolutionize workplace health by promoting awareness of and adherence to proper ergonomic practices, ultimately contributing to the well-being and productivity of employees.</a:t>
            </a:r>
          </a:p>
          <a:p>
            <a:pPr marL="0" indent="0" algn="just">
              <a:buNone/>
            </a:pPr>
            <a:endParaRPr lang="en-GB" sz="1800" dirty="0"/>
          </a:p>
          <a:p>
            <a:pPr marL="0" indent="0" algn="just">
              <a:buNone/>
            </a:pPr>
            <a:endParaRPr lang="en-GB" sz="1800" dirty="0"/>
          </a:p>
          <a:p>
            <a:pPr marL="0" indent="0" algn="just">
              <a:buNone/>
            </a:pPr>
            <a:endParaRPr lang="en-GB" sz="1800" dirty="0"/>
          </a:p>
          <a:p>
            <a:pPr marL="0" indent="0" algn="just">
              <a:buNone/>
            </a:pPr>
            <a:endParaRPr lang="en-GB" sz="1800" dirty="0"/>
          </a:p>
          <a:p>
            <a:pPr marL="0" indent="0" algn="just">
              <a:buNone/>
            </a:pPr>
            <a:endParaRPr lang="en-GB" sz="1800" dirty="0"/>
          </a:p>
          <a:p>
            <a:pPr marL="0" indent="0" algn="just">
              <a:buNone/>
            </a:pPr>
            <a:endParaRPr lang="en-IN" sz="1800" dirty="0"/>
          </a:p>
        </p:txBody>
      </p:sp>
    </p:spTree>
    <p:extLst>
      <p:ext uri="{BB962C8B-B14F-4D97-AF65-F5344CB8AC3E}">
        <p14:creationId xmlns:p14="http://schemas.microsoft.com/office/powerpoint/2010/main" val="870597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6A1C1-3B14-18F9-AC5C-E84049AA950A}"/>
              </a:ext>
            </a:extLst>
          </p:cNvPr>
          <p:cNvSpPr>
            <a:spLocks noGrp="1"/>
          </p:cNvSpPr>
          <p:nvPr>
            <p:ph type="title"/>
          </p:nvPr>
        </p:nvSpPr>
        <p:spPr>
          <a:xfrm>
            <a:off x="838200" y="172279"/>
            <a:ext cx="10515600" cy="768625"/>
          </a:xfrm>
        </p:spPr>
        <p:txBody>
          <a:bodyPr>
            <a:normAutofit/>
          </a:bodyPr>
          <a:lstStyle/>
          <a:p>
            <a:pPr algn="ctr"/>
            <a:r>
              <a:rPr lang="en-IN" sz="2400" dirty="0"/>
              <a:t>ARCHITECTURE DIAGRAM</a:t>
            </a:r>
          </a:p>
        </p:txBody>
      </p:sp>
      <p:sp>
        <p:nvSpPr>
          <p:cNvPr id="3" name="Content Placeholder 2">
            <a:extLst>
              <a:ext uri="{FF2B5EF4-FFF2-40B4-BE49-F238E27FC236}">
                <a16:creationId xmlns:a16="http://schemas.microsoft.com/office/drawing/2014/main" id="{0F4C7B3D-2979-C3BE-B1AE-E46B3731F239}"/>
              </a:ext>
            </a:extLst>
          </p:cNvPr>
          <p:cNvSpPr>
            <a:spLocks noGrp="1"/>
          </p:cNvSpPr>
          <p:nvPr>
            <p:ph idx="1"/>
          </p:nvPr>
        </p:nvSpPr>
        <p:spPr>
          <a:xfrm>
            <a:off x="838200" y="940904"/>
            <a:ext cx="10515600" cy="5744817"/>
          </a:xfrm>
        </p:spPr>
        <p:txBody>
          <a:bodyPr>
            <a:normAutofit/>
          </a:bodyPr>
          <a:lstStyle/>
          <a:p>
            <a:pPr marL="0" indent="0" algn="just">
              <a:buNone/>
            </a:pPr>
            <a:r>
              <a:rPr lang="en-GB" sz="1800" dirty="0"/>
              <a:t>The architecture of the Smart System for Workplace Posture Monitoring involves a combination of hardware and software components to ensure effective posture tracking and analysis. At the core of the system is a network of cameras strategically placed within the workplace. These cameras capture real-time footage of employees, which is then processed by a central server. The server utilizes computer vision algorithms to </a:t>
            </a:r>
            <a:r>
              <a:rPr lang="en-GB" sz="1800" dirty="0" err="1"/>
              <a:t>analyze</a:t>
            </a:r>
            <a:r>
              <a:rPr lang="en-GB" sz="1800" dirty="0"/>
              <a:t> the posture of individuals and extracts relevant data. The processed information is then stored in a database for further analysis and reporting. Additionally, a user interface is developed for administrators and employees to access posture-related insights and recommendations. The system may also incorporate edge computing devices to perform initial processing on the cameras themselves, reducing the load on the central server and enabling faster response times.</a:t>
            </a:r>
            <a:endParaRPr lang="en-IN" sz="1800" dirty="0"/>
          </a:p>
        </p:txBody>
      </p:sp>
    </p:spTree>
    <p:extLst>
      <p:ext uri="{BB962C8B-B14F-4D97-AF65-F5344CB8AC3E}">
        <p14:creationId xmlns:p14="http://schemas.microsoft.com/office/powerpoint/2010/main" val="2408098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F2F-A4B2-DE14-8270-4B59373406C2}"/>
              </a:ext>
            </a:extLst>
          </p:cNvPr>
          <p:cNvSpPr>
            <a:spLocks noGrp="1"/>
          </p:cNvSpPr>
          <p:nvPr>
            <p:ph type="title"/>
          </p:nvPr>
        </p:nvSpPr>
        <p:spPr>
          <a:xfrm>
            <a:off x="838200" y="291549"/>
            <a:ext cx="10515600" cy="675860"/>
          </a:xfrm>
        </p:spPr>
        <p:txBody>
          <a:bodyPr>
            <a:normAutofit/>
          </a:bodyPr>
          <a:lstStyle/>
          <a:p>
            <a:pPr algn="ctr"/>
            <a:r>
              <a:rPr lang="en-IN" sz="2400" dirty="0"/>
              <a:t>ARCHITECTURE DOCUMENTS</a:t>
            </a:r>
          </a:p>
        </p:txBody>
      </p:sp>
      <p:sp>
        <p:nvSpPr>
          <p:cNvPr id="3" name="Content Placeholder 2">
            <a:extLst>
              <a:ext uri="{FF2B5EF4-FFF2-40B4-BE49-F238E27FC236}">
                <a16:creationId xmlns:a16="http://schemas.microsoft.com/office/drawing/2014/main" id="{721BFA46-686C-18D0-FAFB-73DBCC1DC011}"/>
              </a:ext>
            </a:extLst>
          </p:cNvPr>
          <p:cNvSpPr>
            <a:spLocks noGrp="1"/>
          </p:cNvSpPr>
          <p:nvPr>
            <p:ph idx="1"/>
          </p:nvPr>
        </p:nvSpPr>
        <p:spPr>
          <a:xfrm>
            <a:off x="838200" y="967408"/>
            <a:ext cx="10515600" cy="5711687"/>
          </a:xfrm>
        </p:spPr>
        <p:txBody>
          <a:bodyPr>
            <a:normAutofit/>
          </a:bodyPr>
          <a:lstStyle/>
          <a:p>
            <a:pPr marL="0" indent="0" algn="just">
              <a:buNone/>
            </a:pPr>
            <a:r>
              <a:rPr lang="en-GB" sz="1800" b="1" dirty="0"/>
              <a:t>System Requirements Document (SRD):</a:t>
            </a:r>
          </a:p>
          <a:p>
            <a:pPr marL="0" indent="0" algn="just">
              <a:buNone/>
            </a:pPr>
            <a:r>
              <a:rPr lang="en-GB" sz="1800" dirty="0"/>
              <a:t>This document outlines the functional and non-functional requirements of the Smart System for Workplace Posture Monitoring. It covers aspects such as camera specifications, server capabilities, data storage requirements, and user interface features.</a:t>
            </a:r>
          </a:p>
          <a:p>
            <a:pPr marL="0" indent="0" algn="just">
              <a:buNone/>
            </a:pPr>
            <a:r>
              <a:rPr lang="en-GB" sz="1800" b="1" dirty="0"/>
              <a:t>Architecture Design Document (ADD):</a:t>
            </a:r>
          </a:p>
          <a:p>
            <a:pPr marL="0" indent="0" algn="just">
              <a:buNone/>
            </a:pPr>
            <a:r>
              <a:rPr lang="en-GB" sz="1800" dirty="0"/>
              <a:t>The ADD provides a detailed overview of the system's architecture. It includes diagrams, such as a high-level system architecture diagram and detailed component diagrams illustrating the interactions between cameras, server, database, and user interface. This document also discusses the rationale behind architectural decisions.</a:t>
            </a:r>
          </a:p>
          <a:p>
            <a:pPr marL="0" indent="0" algn="just">
              <a:buNone/>
            </a:pPr>
            <a:r>
              <a:rPr lang="en-GB" sz="1800" b="1" dirty="0"/>
              <a:t>User Manual:</a:t>
            </a:r>
          </a:p>
          <a:p>
            <a:pPr marL="0" indent="0" algn="just">
              <a:buNone/>
            </a:pPr>
            <a:r>
              <a:rPr lang="en-GB" sz="1800" dirty="0"/>
              <a:t>A comprehensive user manual is essential for both administrators and end-users. It explains how to set up and configure the system, interpret posture analysis reports, and understand the user interface. The manual also provides troubleshooting guidelines and best practices for optimal system performance.</a:t>
            </a:r>
          </a:p>
          <a:p>
            <a:pPr marL="0" indent="0" algn="just">
              <a:buNone/>
            </a:pPr>
            <a:r>
              <a:rPr lang="en-GB" sz="1800" b="1" dirty="0"/>
              <a:t>Privacy and Security Policy:</a:t>
            </a:r>
          </a:p>
          <a:p>
            <a:pPr marL="0" indent="0" algn="just">
              <a:buNone/>
            </a:pPr>
            <a:r>
              <a:rPr lang="en-GB" sz="1800" dirty="0"/>
              <a:t>Given the sensitive nature of monitoring employee behaviour, a detailed privacy and security policy is crucial. This document outlines the measures taken to ensure data security, user privacy, and compliance with relevant regulations.</a:t>
            </a:r>
          </a:p>
        </p:txBody>
      </p:sp>
    </p:spTree>
    <p:extLst>
      <p:ext uri="{BB962C8B-B14F-4D97-AF65-F5344CB8AC3E}">
        <p14:creationId xmlns:p14="http://schemas.microsoft.com/office/powerpoint/2010/main" val="3470221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33ED5B-8E0E-5211-8345-21258D801C2C}"/>
              </a:ext>
            </a:extLst>
          </p:cNvPr>
          <p:cNvSpPr>
            <a:spLocks noGrp="1"/>
          </p:cNvSpPr>
          <p:nvPr>
            <p:ph idx="1"/>
          </p:nvPr>
        </p:nvSpPr>
        <p:spPr>
          <a:xfrm>
            <a:off x="838200" y="159026"/>
            <a:ext cx="10515600" cy="6586331"/>
          </a:xfrm>
        </p:spPr>
        <p:txBody>
          <a:bodyPr>
            <a:normAutofit/>
          </a:bodyPr>
          <a:lstStyle/>
          <a:p>
            <a:pPr marL="0" indent="0" algn="ctr">
              <a:buNone/>
            </a:pPr>
            <a:r>
              <a:rPr lang="en-GB" sz="1800" b="1" dirty="0"/>
              <a:t>Testing and Validation Plan:</a:t>
            </a:r>
          </a:p>
          <a:p>
            <a:pPr marL="0" indent="0" algn="just">
              <a:buNone/>
            </a:pPr>
            <a:r>
              <a:rPr lang="en-GB" sz="1800" dirty="0"/>
              <a:t>To guarantee the accuracy and reliability of posture monitoring, a testing and validation plan is developed. It specifies the testing procedures, scenarios, and acceptance criteria for the system. This document also includes details about performance testing, security testing, and user acceptance testing.</a:t>
            </a:r>
          </a:p>
          <a:p>
            <a:pPr marL="0" indent="0" algn="just">
              <a:buNone/>
            </a:pPr>
            <a:endParaRPr lang="en-GB" sz="1800" dirty="0"/>
          </a:p>
          <a:p>
            <a:pPr marL="0" indent="0" algn="just">
              <a:buNone/>
            </a:pPr>
            <a:r>
              <a:rPr lang="en-GB" sz="1800" dirty="0"/>
              <a:t>The documentation suite ensures the seamless deployment and maintenance of the system. It covers everything from system requirements to architecture design, user guidance, privacy policies, and testing procedures. The privacy and security policy highlights the commitment to safeguarding employee data, addressing concerns related to privacy and compliance.</a:t>
            </a:r>
            <a:endParaRPr lang="en-IN" sz="1800" dirty="0"/>
          </a:p>
        </p:txBody>
      </p:sp>
    </p:spTree>
    <p:extLst>
      <p:ext uri="{BB962C8B-B14F-4D97-AF65-F5344CB8AC3E}">
        <p14:creationId xmlns:p14="http://schemas.microsoft.com/office/powerpoint/2010/main" val="1434367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D7A89-723F-E960-9876-A22DC8445195}"/>
              </a:ext>
            </a:extLst>
          </p:cNvPr>
          <p:cNvSpPr>
            <a:spLocks noGrp="1"/>
          </p:cNvSpPr>
          <p:nvPr>
            <p:ph type="title"/>
          </p:nvPr>
        </p:nvSpPr>
        <p:spPr>
          <a:xfrm>
            <a:off x="838200" y="145775"/>
            <a:ext cx="10515600" cy="808382"/>
          </a:xfrm>
        </p:spPr>
        <p:txBody>
          <a:bodyPr>
            <a:normAutofit/>
          </a:bodyPr>
          <a:lstStyle/>
          <a:p>
            <a:pPr algn="ctr"/>
            <a:r>
              <a:rPr lang="en-IN" sz="2400" dirty="0"/>
              <a:t>WORKFLOW</a:t>
            </a:r>
          </a:p>
        </p:txBody>
      </p:sp>
      <p:sp>
        <p:nvSpPr>
          <p:cNvPr id="3" name="Content Placeholder 2">
            <a:extLst>
              <a:ext uri="{FF2B5EF4-FFF2-40B4-BE49-F238E27FC236}">
                <a16:creationId xmlns:a16="http://schemas.microsoft.com/office/drawing/2014/main" id="{D6641B7E-02F5-BC29-A96B-A6C253516CEF}"/>
              </a:ext>
            </a:extLst>
          </p:cNvPr>
          <p:cNvSpPr>
            <a:spLocks noGrp="1"/>
          </p:cNvSpPr>
          <p:nvPr>
            <p:ph idx="1"/>
          </p:nvPr>
        </p:nvSpPr>
        <p:spPr>
          <a:xfrm>
            <a:off x="838200" y="1166191"/>
            <a:ext cx="10515600" cy="5546034"/>
          </a:xfrm>
        </p:spPr>
        <p:txBody>
          <a:bodyPr>
            <a:normAutofit fontScale="92500" lnSpcReduction="10000"/>
          </a:bodyPr>
          <a:lstStyle/>
          <a:p>
            <a:pPr marL="0" indent="0" algn="just">
              <a:buNone/>
            </a:pPr>
            <a:r>
              <a:rPr lang="en-GB" sz="1800" dirty="0"/>
              <a:t>Building an AI model for a Time Counter Module to calculate sitting and standing time per employee in an office typically involves the following steps:</a:t>
            </a:r>
          </a:p>
          <a:p>
            <a:pPr marL="342900" indent="-342900" algn="just">
              <a:buAutoNum type="arabicPeriod"/>
            </a:pPr>
            <a:r>
              <a:rPr lang="en-GB" sz="1800" dirty="0"/>
              <a:t>Data Collection:</a:t>
            </a:r>
          </a:p>
          <a:p>
            <a:pPr marL="0" indent="0" algn="just">
              <a:buNone/>
            </a:pPr>
            <a:r>
              <a:rPr lang="en-GB" sz="1800" dirty="0"/>
              <a:t>	Sensor Data: Gather data from seat sensors (for sitting duration) and standing desk sensors (for 	standing 	duration).</a:t>
            </a:r>
          </a:p>
          <a:p>
            <a:pPr marL="0" indent="0" algn="just">
              <a:buNone/>
            </a:pPr>
            <a:r>
              <a:rPr lang="en-GB" sz="1800" dirty="0"/>
              <a:t>	Data </a:t>
            </a:r>
            <a:r>
              <a:rPr lang="en-GB" sz="1800" dirty="0" err="1"/>
              <a:t>Labeling</a:t>
            </a:r>
            <a:r>
              <a:rPr lang="en-GB" sz="1800" dirty="0"/>
              <a:t>: Annotate the data to identify sitting and standing periods (label data 	as sitting or 	standing).</a:t>
            </a:r>
          </a:p>
          <a:p>
            <a:pPr marL="0" indent="0" algn="just">
              <a:buNone/>
            </a:pPr>
            <a:r>
              <a:rPr lang="en-GB" sz="1800" dirty="0"/>
              <a:t>2. Preprocessing: Feature Engineering: Extract relevant features from the sensor data (e.g., time intervals, sensor readings).Data Cleaning: Handle missing values or outliers that might affect accuracy.</a:t>
            </a:r>
          </a:p>
          <a:p>
            <a:pPr marL="0" indent="0" algn="just">
              <a:buNone/>
            </a:pPr>
            <a:r>
              <a:rPr lang="en-GB" sz="1800" dirty="0"/>
              <a:t>3. Model Selection: Choose an appropriate AI model considering the nature of the data and task. Options might include:</a:t>
            </a:r>
          </a:p>
          <a:p>
            <a:pPr marL="0" indent="0" algn="just">
              <a:buNone/>
            </a:pPr>
            <a:r>
              <a:rPr lang="en-GB" sz="1800" dirty="0"/>
              <a:t>Classification Models: If the task is to classify whether an employee is sitting or standing at a given time.</a:t>
            </a:r>
          </a:p>
          <a:p>
            <a:pPr marL="0" indent="0" algn="just">
              <a:buNone/>
            </a:pPr>
            <a:r>
              <a:rPr lang="en-GB" sz="1800" dirty="0"/>
              <a:t>Time Series Analysis Models: If the goal is to </a:t>
            </a:r>
            <a:r>
              <a:rPr lang="en-GB" sz="1800" dirty="0" err="1"/>
              <a:t>analyze</a:t>
            </a:r>
            <a:r>
              <a:rPr lang="en-GB" sz="1800" dirty="0"/>
              <a:t> sequential sensor data over time.</a:t>
            </a:r>
          </a:p>
          <a:p>
            <a:pPr marL="0" indent="0" algn="just">
              <a:buNone/>
            </a:pPr>
            <a:r>
              <a:rPr lang="en-GB" sz="1800" dirty="0"/>
              <a:t>4. Model Training: Split the </a:t>
            </a:r>
            <a:r>
              <a:rPr lang="en-GB" sz="1800" dirty="0" err="1"/>
              <a:t>labeled</a:t>
            </a:r>
            <a:r>
              <a:rPr lang="en-GB" sz="1800" dirty="0"/>
              <a:t> data into training and validation </a:t>
            </a:r>
            <a:r>
              <a:rPr lang="en-GB" sz="1800" dirty="0" err="1"/>
              <a:t>sets.Train</a:t>
            </a:r>
            <a:r>
              <a:rPr lang="en-GB" sz="1800" dirty="0"/>
              <a:t> the selected AI model using the training data to learn patterns and </a:t>
            </a:r>
            <a:r>
              <a:rPr lang="en-GB" sz="1800" dirty="0" err="1"/>
              <a:t>behaviors</a:t>
            </a:r>
            <a:r>
              <a:rPr lang="en-GB" sz="1800" dirty="0"/>
              <a:t> associated with sitting and standing.</a:t>
            </a:r>
          </a:p>
          <a:p>
            <a:pPr marL="0" indent="0" algn="just">
              <a:buNone/>
            </a:pPr>
            <a:r>
              <a:rPr lang="en-GB" sz="1800" dirty="0"/>
              <a:t>5. Model Evaluation: Assess the model's performance using the validation set, considering metrics like accuracy, precision, recall, or F1-score.Iterate and fine-tune the model parameters for better performance if needed.</a:t>
            </a:r>
          </a:p>
          <a:p>
            <a:pPr marL="0" indent="0" algn="just">
              <a:buNone/>
            </a:pPr>
            <a:r>
              <a:rPr lang="en-GB" sz="1800" dirty="0"/>
              <a:t>6. Deployment: Implement the trained model into the system infrastructure for real-time </a:t>
            </a:r>
            <a:r>
              <a:rPr lang="en-GB" sz="1800" dirty="0" err="1"/>
              <a:t>inference.Ensure</a:t>
            </a:r>
            <a:r>
              <a:rPr lang="en-GB" sz="1800" dirty="0"/>
              <a:t> scalability and efficiency of the model for handling data from multiple employees concurrently.</a:t>
            </a:r>
            <a:endParaRPr lang="en-IN" sz="1800" dirty="0"/>
          </a:p>
        </p:txBody>
      </p:sp>
    </p:spTree>
    <p:extLst>
      <p:ext uri="{BB962C8B-B14F-4D97-AF65-F5344CB8AC3E}">
        <p14:creationId xmlns:p14="http://schemas.microsoft.com/office/powerpoint/2010/main" val="10555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2A74F-6C6F-B390-22F2-0F49BEE16A7D}"/>
              </a:ext>
            </a:extLst>
          </p:cNvPr>
          <p:cNvSpPr>
            <a:spLocks noGrp="1"/>
          </p:cNvSpPr>
          <p:nvPr>
            <p:ph idx="1"/>
          </p:nvPr>
        </p:nvSpPr>
        <p:spPr>
          <a:xfrm>
            <a:off x="838200" y="212034"/>
            <a:ext cx="10515600" cy="6467061"/>
          </a:xfrm>
        </p:spPr>
        <p:txBody>
          <a:bodyPr>
            <a:normAutofit/>
          </a:bodyPr>
          <a:lstStyle/>
          <a:p>
            <a:pPr marL="0" indent="0">
              <a:buNone/>
            </a:pPr>
            <a:r>
              <a:rPr lang="en-GB" sz="1800" dirty="0"/>
              <a:t>7. Monitoring and </a:t>
            </a:r>
            <a:r>
              <a:rPr lang="en-GB" sz="1800" dirty="0" err="1"/>
              <a:t>Improvement:Continuously</a:t>
            </a:r>
            <a:r>
              <a:rPr lang="en-GB" sz="1800" dirty="0"/>
              <a:t> monitor the model's performance in the real-world </a:t>
            </a:r>
            <a:r>
              <a:rPr lang="en-GB" sz="1800" dirty="0" err="1"/>
              <a:t>setting.Collect</a:t>
            </a:r>
            <a:r>
              <a:rPr lang="en-GB" sz="1800" dirty="0"/>
              <a:t> feedback and additional data to retrain and improve the model's accuracy and reliability over time.</a:t>
            </a:r>
          </a:p>
          <a:p>
            <a:pPr marL="0" indent="0">
              <a:buNone/>
            </a:pPr>
            <a:r>
              <a:rPr lang="en-GB" sz="1800" dirty="0"/>
              <a:t>Considerations: Data Privacy: Ensure compliance with data privacy regulations when collecting and handling employee data.</a:t>
            </a:r>
          </a:p>
          <a:p>
            <a:pPr marL="0" indent="0">
              <a:buNone/>
            </a:pPr>
            <a:r>
              <a:rPr lang="en-GB" sz="1800" dirty="0"/>
              <a:t>Sensor Accuracy: Validate and calibrate sensors to ensure accurate data collection.</a:t>
            </a:r>
          </a:p>
          <a:p>
            <a:pPr marL="0" indent="0">
              <a:buNone/>
            </a:pPr>
            <a:r>
              <a:rPr lang="en-GB" sz="1800" dirty="0"/>
              <a:t>Real-Time Processing: Optimize the model for real-time inference to provide timely updates on sitting and standing </a:t>
            </a:r>
            <a:r>
              <a:rPr lang="en-GB" sz="1800" dirty="0" err="1"/>
              <a:t>times.The</a:t>
            </a:r>
            <a:r>
              <a:rPr lang="en-GB" sz="1800" dirty="0"/>
              <a:t> specific implementation details and choice of AI model will depend on the nature of the sensor data, the complexity of the task, and the infrastructure available for deployment within the office environment. It's crucial to validate the model's accuracy and ensure its seamless integration into the office system.</a:t>
            </a:r>
            <a:endParaRPr lang="en-IN" sz="1800" dirty="0"/>
          </a:p>
        </p:txBody>
      </p:sp>
    </p:spTree>
    <p:extLst>
      <p:ext uri="{BB962C8B-B14F-4D97-AF65-F5344CB8AC3E}">
        <p14:creationId xmlns:p14="http://schemas.microsoft.com/office/powerpoint/2010/main" val="1187011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7B48B5-99B7-204B-CF13-CBA37FB2385D}"/>
              </a:ext>
            </a:extLst>
          </p:cNvPr>
          <p:cNvSpPr txBox="1"/>
          <p:nvPr/>
        </p:nvSpPr>
        <p:spPr>
          <a:xfrm>
            <a:off x="1632857" y="2183363"/>
            <a:ext cx="7324531" cy="1200329"/>
          </a:xfrm>
          <a:prstGeom prst="rect">
            <a:avLst/>
          </a:prstGeom>
          <a:noFill/>
        </p:spPr>
        <p:txBody>
          <a:bodyPr wrap="square" rtlCol="0">
            <a:spAutoFit/>
          </a:bodyPr>
          <a:lstStyle/>
          <a:p>
            <a:r>
              <a:rPr lang="en-US" sz="7200" dirty="0"/>
              <a:t>Thank You</a:t>
            </a:r>
            <a:endParaRPr lang="en-IN" sz="7200" dirty="0"/>
          </a:p>
        </p:txBody>
      </p:sp>
    </p:spTree>
    <p:extLst>
      <p:ext uri="{BB962C8B-B14F-4D97-AF65-F5344CB8AC3E}">
        <p14:creationId xmlns:p14="http://schemas.microsoft.com/office/powerpoint/2010/main" val="36592491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TotalTime>
  <Words>3175</Words>
  <Application>Microsoft Office PowerPoint</Application>
  <PresentationFormat>Widescreen</PresentationFormat>
  <Paragraphs>105</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Times New Roman</vt:lpstr>
      <vt:lpstr>Office Theme</vt:lpstr>
      <vt:lpstr>SMART SYSTEM FOR WORKPLACE POSTURE MONITORING</vt:lpstr>
      <vt:lpstr>ABSTRACT</vt:lpstr>
      <vt:lpstr>PowerPoint Presentation</vt:lpstr>
      <vt:lpstr>INTRODUCTION</vt:lpstr>
      <vt:lpstr>MOTIVATION</vt:lpstr>
      <vt:lpstr>PowerPoint Presentation</vt:lpstr>
      <vt:lpstr>INNOVATION</vt:lpstr>
      <vt:lpstr>BACKLOG REFINEMENT</vt:lpstr>
      <vt:lpstr>SPRINT PLANNING</vt:lpstr>
      <vt:lpstr>FUNCTIONAL DOCUMENTS</vt:lpstr>
      <vt:lpstr>ARCHITECTURE DIAGRAM</vt:lpstr>
      <vt:lpstr>ARCHITECTURE DOCUMENTS</vt:lpstr>
      <vt:lpstr>PowerPoint Presentation</vt:lpstr>
      <vt:lpstr>WORKFLOW</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SYSTEM FOR WORKPLACE POSTURE MONITORING</dc:title>
  <dc:creator>Arnav Srivastava</dc:creator>
  <cp:lastModifiedBy>Ankit Singh</cp:lastModifiedBy>
  <cp:revision>3</cp:revision>
  <dcterms:created xsi:type="dcterms:W3CDTF">2024-01-10T07:00:35Z</dcterms:created>
  <dcterms:modified xsi:type="dcterms:W3CDTF">2024-01-10T12:36:46Z</dcterms:modified>
</cp:coreProperties>
</file>